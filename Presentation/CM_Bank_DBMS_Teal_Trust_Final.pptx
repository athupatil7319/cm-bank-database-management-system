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-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1E4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601968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9DB4BC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5552"/>
            <a:ext cx="71323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dirty="0">
                <a:solidFill>
                  <a:srgbClr val="00D2BE"/>
                </a:solidFill>
                <a:latin typeface="Aptos"/>
              </a:rPr>
              <a:t>CM BANK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58487"/>
            <a:ext cx="89611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dirty="0">
                <a:solidFill>
                  <a:srgbClr val="F2F8F9"/>
                </a:solidFill>
                <a:latin typeface="Aptos"/>
              </a:rPr>
              <a:t>Database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07792"/>
            <a:ext cx="8046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DB4BC"/>
                </a:solidFill>
                <a:latin typeface="Aptos"/>
              </a:rPr>
              <a:t>SQL Server • Relational Design • Banking Operations</a:t>
            </a: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2CD1CD4A-0AD5-7EFA-730B-A2D4B591F6FA}"/>
              </a:ext>
            </a:extLst>
          </p:cNvPr>
          <p:cNvSpPr/>
          <p:nvPr/>
        </p:nvSpPr>
        <p:spPr>
          <a:xfrm>
            <a:off x="658368" y="4407408"/>
            <a:ext cx="4641219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DB087B-D1B3-4C56-EE09-CDA22A9855C6}"/>
              </a:ext>
            </a:extLst>
          </p:cNvPr>
          <p:cNvSpPr txBox="1"/>
          <p:nvPr/>
        </p:nvSpPr>
        <p:spPr>
          <a:xfrm>
            <a:off x="840658" y="4738557"/>
            <a:ext cx="2531807" cy="541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
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</a:t>
            </a:r>
            <a:endParaRPr lang="en-US" sz="10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B2CE92-B70C-A7F3-A04C-9DB2250C8309}"/>
              </a:ext>
            </a:extLst>
          </p:cNvPr>
          <p:cNvSpPr txBox="1"/>
          <p:nvPr/>
        </p:nvSpPr>
        <p:spPr>
          <a:xfrm>
            <a:off x="3372465" y="4738557"/>
            <a:ext cx="2256503" cy="541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Atharv Manik Patil</a:t>
            </a:r>
            <a:endParaRPr lang="en-US" sz="1050" dirty="0"/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FB25763C-6586-641E-DE8C-1589B5AEB41E}"/>
              </a:ext>
            </a:extLst>
          </p:cNvPr>
          <p:cNvSpPr/>
          <p:nvPr/>
        </p:nvSpPr>
        <p:spPr>
          <a:xfrm>
            <a:off x="429178" y="262890"/>
            <a:ext cx="721196" cy="69265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3" name="Image 0" descr="/home/claude/assets/icon_database.png">
            <a:extLst>
              <a:ext uri="{FF2B5EF4-FFF2-40B4-BE49-F238E27FC236}">
                <a16:creationId xmlns:a16="http://schemas.microsoft.com/office/drawing/2014/main" id="{8C9790E7-409E-4FF8-9139-AE678B785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29" y="443941"/>
            <a:ext cx="403870" cy="40387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DC99F1F-3160-242C-C8EF-1D91BFD2A325}"/>
              </a:ext>
            </a:extLst>
          </p:cNvPr>
          <p:cNvSpPr txBox="1"/>
          <p:nvPr/>
        </p:nvSpPr>
        <p:spPr>
          <a:xfrm>
            <a:off x="1150374" y="424986"/>
            <a:ext cx="6145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MINI PROJECT</a:t>
            </a:r>
            <a:endParaRPr 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31D377-749B-099F-EB7E-0FC0F2CEDFD5}"/>
              </a:ext>
            </a:extLst>
          </p:cNvPr>
          <p:cNvSpPr txBox="1"/>
          <p:nvPr/>
        </p:nvSpPr>
        <p:spPr>
          <a:xfrm>
            <a:off x="749710" y="3325737"/>
            <a:ext cx="61451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banking data model built in SQL Server — from schema design to advanced querying.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1E4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3400" y="1613639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F2F8F9"/>
                </a:solidFill>
                <a:latin typeface="Aptos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68762"/>
            <a:ext cx="27432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00D2BE"/>
                </a:solidFill>
                <a:latin typeface="Aptos"/>
              </a:rPr>
              <a:t>01 •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01968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9DB4BC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46888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8F9"/>
                </a:solidFill>
                <a:latin typeface="Aptos"/>
              </a:defRPr>
            </a:pPr>
            <a:r>
              <a:rPr dirty="0"/>
              <a:t>• Design a structured banking database for customers, accounts, transactions and loans.</a:t>
            </a:r>
          </a:p>
          <a:p>
            <a:pPr>
              <a:spcAft>
                <a:spcPts val="800"/>
              </a:spcAft>
              <a:defRPr sz="1600">
                <a:solidFill>
                  <a:srgbClr val="F2F8F9"/>
                </a:solidFill>
                <a:latin typeface="Aptos"/>
              </a:defRPr>
            </a:pPr>
            <a:r>
              <a:rPr dirty="0"/>
              <a:t>• Use SQL Server / T-SQL to store, query and manage banking information.</a:t>
            </a:r>
          </a:p>
          <a:p>
            <a:pPr>
              <a:spcAft>
                <a:spcPts val="800"/>
              </a:spcAft>
              <a:defRPr sz="1600">
                <a:solidFill>
                  <a:srgbClr val="F2F8F9"/>
                </a:solidFill>
                <a:latin typeface="Aptos"/>
              </a:defRPr>
            </a:pPr>
            <a:r>
              <a:rPr dirty="0"/>
              <a:t>• Apply keys, constraints, relationships, joins, aggregation and window functions.</a:t>
            </a:r>
          </a:p>
          <a:p>
            <a:pPr>
              <a:spcAft>
                <a:spcPts val="800"/>
              </a:spcAft>
              <a:defRPr sz="1600">
                <a:solidFill>
                  <a:srgbClr val="F2F8F9"/>
                </a:solidFill>
                <a:latin typeface="Aptos"/>
              </a:defRPr>
            </a:pPr>
            <a:r>
              <a:rPr dirty="0"/>
              <a:t>• Demonstrate practical queries with result sets for analysis and reporting.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325880"/>
            <a:ext cx="1691640" cy="123444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91271" y="1490472"/>
            <a:ext cx="136245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0D2BE"/>
                </a:solidFill>
                <a:latin typeface="Aptos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1271" y="1984248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9DB4BC"/>
                </a:solidFill>
                <a:latin typeface="Aptos"/>
              </a:rPr>
              <a:t>CORE ENTITIES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6920" y="1325880"/>
            <a:ext cx="1691640" cy="123444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11512" y="1490472"/>
            <a:ext cx="136245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7E7DC"/>
                </a:solidFill>
                <a:latin typeface="Aptos"/>
              </a:rPr>
              <a:t>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1984248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9DB4BC"/>
                </a:solidFill>
                <a:latin typeface="Aptos"/>
              </a:rPr>
              <a:t>SQL QUERIES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2788920"/>
            <a:ext cx="1691640" cy="123444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91271" y="2953512"/>
            <a:ext cx="136245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43D291"/>
                </a:solidFill>
                <a:latin typeface="Aptos"/>
              </a:rPr>
              <a:t>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1" y="3447287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9DB4BC"/>
                </a:solidFill>
                <a:latin typeface="Aptos"/>
              </a:rPr>
              <a:t>SLIDES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20" y="2788920"/>
            <a:ext cx="1691640" cy="123444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11512" y="2953512"/>
            <a:ext cx="136245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6BE4A"/>
                </a:solidFill>
                <a:latin typeface="Aptos"/>
              </a:rPr>
              <a:t>T-SQL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1512" y="3447287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9DB4BC"/>
                </a:solidFill>
                <a:latin typeface="Aptos"/>
              </a:rPr>
              <a:t>QUERY DIALECT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1E4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F2F8F9"/>
                </a:solidFill>
                <a:latin typeface="Aptos"/>
              </a:rPr>
              <a:t>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"/>
            <a:ext cx="27432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00D2BE"/>
                </a:solidFill>
                <a:latin typeface="Aptos"/>
              </a:rPr>
              <a:t>01 •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01968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9DB4BC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97280"/>
            <a:ext cx="10789920" cy="4480560"/>
          </a:xfrm>
          <a:prstGeom prst="roundRect">
            <a:avLst/>
          </a:prstGeom>
          <a:solidFill>
            <a:srgbClr val="0E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3716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00D2BE"/>
                </a:solidFill>
                <a:latin typeface="Aptos"/>
              </a:rPr>
              <a:t>Why a DBMS is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2F8F9"/>
                </a:solidFill>
                <a:latin typeface="Aptos"/>
              </a:defRPr>
            </a:pPr>
            <a:r>
              <a:t>• Centralize customer and financial records.</a:t>
            </a:r>
          </a:p>
          <a:p>
            <a:pPr>
              <a:spcAft>
                <a:spcPts val="800"/>
              </a:spcAft>
              <a:defRPr sz="1500">
                <a:solidFill>
                  <a:srgbClr val="F2F8F9"/>
                </a:solidFill>
                <a:latin typeface="Aptos"/>
              </a:defRPr>
            </a:pPr>
            <a:r>
              <a:t>• Maintain data consistency across banking operations.</a:t>
            </a:r>
          </a:p>
          <a:p>
            <a:pPr>
              <a:spcAft>
                <a:spcPts val="800"/>
              </a:spcAft>
              <a:defRPr sz="1500">
                <a:solidFill>
                  <a:srgbClr val="F2F8F9"/>
                </a:solidFill>
                <a:latin typeface="Aptos"/>
              </a:defRPr>
            </a:pPr>
            <a:r>
              <a:t>• Track deposits, withdrawals and account balances.</a:t>
            </a:r>
          </a:p>
          <a:p>
            <a:pPr>
              <a:spcAft>
                <a:spcPts val="800"/>
              </a:spcAft>
              <a:defRPr sz="1500">
                <a:solidFill>
                  <a:srgbClr val="F2F8F9"/>
                </a:solidFill>
                <a:latin typeface="Aptos"/>
              </a:defRPr>
            </a:pPr>
            <a:r>
              <a:t>• Manage loan portfolios and customer relationships.</a:t>
            </a:r>
          </a:p>
          <a:p>
            <a:pPr>
              <a:spcAft>
                <a:spcPts val="800"/>
              </a:spcAft>
              <a:defRPr sz="1500">
                <a:solidFill>
                  <a:srgbClr val="F2F8F9"/>
                </a:solidFill>
                <a:latin typeface="Aptos"/>
              </a:defRPr>
            </a:pPr>
            <a:r>
              <a:t>• Support fast reporting through SQL queries.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37160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D2BE"/>
                </a:solidFill>
                <a:latin typeface="Aptos"/>
              </a:rPr>
              <a:t>Target outcome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874519"/>
            <a:ext cx="4572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2F8F9"/>
                </a:solidFill>
                <a:latin typeface="Aptos"/>
              </a:rPr>
              <a:t>A reliable relational model that turns operational banking data into queryable, auditable information.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3794760"/>
            <a:ext cx="4572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7E7DC"/>
                </a:solidFill>
                <a:latin typeface="Aptos"/>
              </a:rPr>
              <a:t>Trust • Integrity • Traceability •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1E4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2F8F9"/>
                </a:solidFill>
                <a:latin typeface="Aptos"/>
              </a:rPr>
              <a:t>System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0D2BE"/>
                </a:solidFill>
                <a:latin typeface="Aptos"/>
              </a:rPr>
              <a:t>01 •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01968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9DB4BC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5074920" cy="160020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D2BE"/>
                </a:solidFill>
                <a:latin typeface="Aptos"/>
              </a:rPr>
              <a:t>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92808"/>
            <a:ext cx="4526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2F8F9"/>
                </a:solidFill>
                <a:latin typeface="Aptos"/>
              </a:rPr>
              <a:t>Identity, contact and city information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5074920" cy="160020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D2BE"/>
                </a:solidFill>
                <a:latin typeface="Aptos"/>
              </a:rPr>
              <a:t>Accounts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92808"/>
            <a:ext cx="4526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2F8F9"/>
                </a:solidFill>
                <a:latin typeface="Aptos"/>
              </a:rPr>
              <a:t>Account type and current balance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91840"/>
            <a:ext cx="5074920" cy="160020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5204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D2BE"/>
                </a:solidFill>
                <a:latin typeface="Aptos"/>
              </a:rPr>
              <a:t>Transactions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50208"/>
            <a:ext cx="4526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2F8F9"/>
                </a:solidFill>
                <a:latin typeface="Aptos"/>
              </a:rPr>
              <a:t>Deposits and withdrawals over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91840"/>
            <a:ext cx="5074920" cy="160020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5204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D2BE"/>
                </a:solidFill>
                <a:latin typeface="Aptos"/>
              </a:rPr>
              <a:t>Loans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50208"/>
            <a:ext cx="4526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2F8F9"/>
                </a:solidFill>
                <a:latin typeface="Aptos"/>
              </a:rPr>
              <a:t>Loan type, amount and customer ownership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1E4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14934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F2F8F9"/>
                </a:solidFill>
                <a:latin typeface="Aptos"/>
              </a:rPr>
              <a:t>Database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"/>
            <a:ext cx="27432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00D2BE"/>
                </a:solidFill>
                <a:latin typeface="Aptos"/>
              </a:rPr>
              <a:t>02 • DATA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01968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9DB4BC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10789920" cy="4937760"/>
          </a:xfrm>
          <a:prstGeom prst="roundRect">
            <a:avLst/>
          </a:prstGeom>
          <a:solidFill>
            <a:srgbClr val="0E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2240280" cy="960120"/>
          </a:xfrm>
          <a:prstGeom prst="roundRect">
            <a:avLst/>
          </a:prstGeom>
          <a:solidFill>
            <a:srgbClr val="123243"/>
          </a:solidFill>
          <a:ln w="12700">
            <a:solidFill>
              <a:srgbClr val="00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2F8F9"/>
                </a:solidFill>
                <a:latin typeface="Aptos"/>
              </a:rPr>
              <a:t>Customers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554480"/>
            <a:ext cx="2240280" cy="960120"/>
          </a:xfrm>
          <a:prstGeom prst="roundRect">
            <a:avLst/>
          </a:prstGeom>
          <a:solidFill>
            <a:srgbClr val="123243"/>
          </a:solidFill>
          <a:ln w="12700">
            <a:solidFill>
              <a:srgbClr val="00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94760" y="173736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2F8F9"/>
                </a:solidFill>
                <a:latin typeface="Aptos"/>
              </a:rPr>
              <a:t>Accounts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554480"/>
            <a:ext cx="2240280" cy="960120"/>
          </a:xfrm>
          <a:prstGeom prst="roundRect">
            <a:avLst/>
          </a:prstGeom>
          <a:solidFill>
            <a:srgbClr val="123243"/>
          </a:solidFill>
          <a:ln w="12700">
            <a:solidFill>
              <a:srgbClr val="00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35240" y="173736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2F8F9"/>
                </a:solidFill>
                <a:latin typeface="Aptos"/>
              </a:rPr>
              <a:t>Transactions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3931920"/>
            <a:ext cx="2240280" cy="960120"/>
          </a:xfrm>
          <a:prstGeom prst="roundRect">
            <a:avLst/>
          </a:prstGeom>
          <a:solidFill>
            <a:srgbClr val="123243"/>
          </a:solidFill>
          <a:ln w="12700">
            <a:solidFill>
              <a:srgbClr val="00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94760" y="411480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2F8F9"/>
                </a:solidFill>
                <a:latin typeface="Aptos"/>
              </a:rPr>
              <a:t>Loans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0574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7E7DC"/>
                </a:solidFill>
                <a:latin typeface="Aptos"/>
              </a:rPr>
              <a:t>1 : 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1874519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7E7DC"/>
                </a:solidFill>
                <a:latin typeface="Aptos"/>
              </a:rPr>
              <a:t>1 : 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8862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7E7DC"/>
                </a:solidFill>
                <a:latin typeface="Aptos"/>
              </a:rPr>
              <a:t>1 : 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75488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DB4BC"/>
                </a:solidFill>
                <a:latin typeface="Aptos"/>
              </a:rPr>
              <a:t>Relational structure supports traceable banking events.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1E4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2F8F9"/>
                </a:solidFill>
                <a:latin typeface="Aptos"/>
              </a:rPr>
              <a:t>Core Tables &amp; Keys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0D2BE"/>
                </a:solidFill>
                <a:latin typeface="Aptos"/>
              </a:rPr>
              <a:t>02 • DATA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01968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9DB4BC"/>
                </a:solidFill>
                <a:latin typeface="Aptos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143000"/>
          <a:ext cx="107899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961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Primary Key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Important Foreign Key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Customers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CustomerID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Customer master data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Accounts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AccountID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CustomerID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Bank accounts &amp; balances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Transactions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TransactionID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AccountID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Financial movements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Loans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LoanID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CustomerID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Loan portfolio records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3232" y="58064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DB4BC"/>
                </a:solidFill>
                <a:latin typeface="Aptos"/>
              </a:rPr>
              <a:t>PK = unique row identity  •  FK = relationship to a parent table  •  Constraints protect data integrity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1E4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2F8F9"/>
                </a:solidFill>
                <a:latin typeface="Aptos"/>
              </a:rPr>
              <a:t>Relationships &amp;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0D2BE"/>
                </a:solidFill>
                <a:latin typeface="Aptos"/>
              </a:rPr>
              <a:t>02 • DATA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01968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9DB4BC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2F8F9"/>
                </a:solidFill>
                <a:latin typeface="Aptos"/>
              </a:defRPr>
            </a:pPr>
            <a:r>
              <a:t>• Customers → Accounts: one customer can own multiple accounts.</a:t>
            </a:r>
          </a:p>
          <a:p>
            <a:pPr>
              <a:spcAft>
                <a:spcPts val="800"/>
              </a:spcAft>
              <a:defRPr sz="1500">
                <a:solidFill>
                  <a:srgbClr val="F2F8F9"/>
                </a:solidFill>
                <a:latin typeface="Aptos"/>
              </a:defRPr>
            </a:pPr>
            <a:r>
              <a:t>• Accounts → Transactions: every transaction belongs to an account.</a:t>
            </a:r>
          </a:p>
          <a:p>
            <a:pPr>
              <a:spcAft>
                <a:spcPts val="800"/>
              </a:spcAft>
              <a:defRPr sz="1500">
                <a:solidFill>
                  <a:srgbClr val="F2F8F9"/>
                </a:solidFill>
                <a:latin typeface="Aptos"/>
              </a:defRPr>
            </a:pPr>
            <a:r>
              <a:t>• Customers → Loans: a customer can hold multiple loans.</a:t>
            </a:r>
          </a:p>
          <a:p>
            <a:pPr>
              <a:spcAft>
                <a:spcPts val="800"/>
              </a:spcAft>
              <a:defRPr sz="1500">
                <a:solidFill>
                  <a:srgbClr val="F2F8F9"/>
                </a:solidFill>
                <a:latin typeface="Aptos"/>
              </a:defRPr>
            </a:pPr>
            <a:r>
              <a:t>• Foreign keys prevent orphan records.</a:t>
            </a:r>
          </a:p>
          <a:p>
            <a:pPr>
              <a:spcAft>
                <a:spcPts val="800"/>
              </a:spcAft>
              <a:defRPr sz="1500">
                <a:solidFill>
                  <a:srgbClr val="F2F8F9"/>
                </a:solidFill>
                <a:latin typeface="Aptos"/>
              </a:defRPr>
            </a:pPr>
            <a:r>
              <a:t>• NOT NULL / CHECK / UNIQUE constraints enforce valid values.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34440"/>
            <a:ext cx="4663440" cy="347472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D2BE"/>
                </a:solidFill>
                <a:latin typeface="Aptos"/>
              </a:rPr>
              <a:t>Integrity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057400"/>
            <a:ext cx="39319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2F8F9"/>
                </a:solidFill>
                <a:latin typeface="Aptos"/>
              </a:rPr>
              <a:t>✓ Primary keys
✓ Foreign keys
✓ Data types
✓ Required fields
✓ Domain checks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1E4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5216" y="496122"/>
            <a:ext cx="102412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F2F8F9"/>
                </a:solidFill>
                <a:latin typeface="Aptos"/>
              </a:rPr>
              <a:t>Q01 • Customer directory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"/>
            <a:ext cx="27432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00D2BE"/>
                </a:solidFill>
                <a:latin typeface="Aptos"/>
              </a:rPr>
              <a:t>03 • SQL QUERY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01968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9DB4BC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051560"/>
            <a:ext cx="5440680" cy="2423160"/>
          </a:xfrm>
          <a:prstGeom prst="roundRect">
            <a:avLst/>
          </a:prstGeom>
          <a:solidFill>
            <a:srgbClr val="040F19"/>
          </a:solidFill>
          <a:ln w="12700">
            <a:solidFill>
              <a:srgbClr val="1A4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051560"/>
            <a:ext cx="50292" cy="242316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170430"/>
            <a:ext cx="5096060" cy="11079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dirty="0">
                <a:solidFill>
                  <a:srgbClr val="57E7DC"/>
                </a:solidFill>
                <a:latin typeface="Consolas"/>
              </a:rPr>
              <a:t>SELECT </a:t>
            </a:r>
            <a:r>
              <a:rPr dirty="0" err="1">
                <a:solidFill>
                  <a:srgbClr val="57E7DC"/>
                </a:solidFill>
                <a:latin typeface="Consolas"/>
              </a:rPr>
              <a:t>CustomerID</a:t>
            </a:r>
            <a:r>
              <a:rPr dirty="0">
                <a:solidFill>
                  <a:srgbClr val="57E7DC"/>
                </a:solidFill>
                <a:latin typeface="Consolas"/>
              </a:rPr>
              <a:t>, FirstName, LastName, City
FROM </a:t>
            </a:r>
            <a:r>
              <a:rPr dirty="0" err="1">
                <a:solidFill>
                  <a:srgbClr val="57E7DC"/>
                </a:solidFill>
                <a:latin typeface="Consolas"/>
              </a:rPr>
              <a:t>dbo.Customers</a:t>
            </a:r>
            <a:r>
              <a:rPr dirty="0">
                <a:solidFill>
                  <a:srgbClr val="57E7DC"/>
                </a:solidFill>
                <a:latin typeface="Consolas"/>
              </a:rPr>
              <a:t>
ORDER BY </a:t>
            </a:r>
            <a:r>
              <a:rPr dirty="0" err="1">
                <a:solidFill>
                  <a:srgbClr val="57E7DC"/>
                </a:solidFill>
                <a:latin typeface="Consolas"/>
              </a:rPr>
              <a:t>CustomerID</a:t>
            </a:r>
            <a:r>
              <a:rPr dirty="0">
                <a:solidFill>
                  <a:srgbClr val="57E7DC"/>
                </a:solidFill>
                <a:latin typeface="Consolas"/>
              </a:rPr>
              <a:t>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685032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D2BE"/>
                </a:solidFill>
                <a:latin typeface="Aptos"/>
              </a:rPr>
              <a:t>OUTPUT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1051560"/>
          <a:ext cx="52120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CustomerID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FirstName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LastName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City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Aarav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Shah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Mumbai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Priya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Patel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Pune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Rohan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Kulkarni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Nashik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Sneha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Joshi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Mumbai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4160520"/>
            <a:ext cx="10863072" cy="132588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462272"/>
            <a:ext cx="9144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0D2BE"/>
                </a:solidFill>
                <a:latin typeface="Aptos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407408"/>
            <a:ext cx="93268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F2F8F9"/>
                </a:solidFill>
                <a:latin typeface="Aptos"/>
              </a:rPr>
              <a:t>Retrieves the </a:t>
            </a:r>
            <a:r>
              <a:rPr sz="2400" b="0" dirty="0">
                <a:solidFill>
                  <a:srgbClr val="F2F8F9"/>
                </a:solidFill>
                <a:latin typeface="Aptos"/>
              </a:rPr>
              <a:t>customer</a:t>
            </a:r>
            <a:r>
              <a:rPr sz="2000" b="0" dirty="0">
                <a:solidFill>
                  <a:srgbClr val="F2F8F9"/>
                </a:solidFill>
                <a:latin typeface="Aptos"/>
              </a:rPr>
              <a:t> master list in a predictable order.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1E4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2F8F9"/>
                </a:solidFill>
                <a:latin typeface="Aptos"/>
              </a:rPr>
              <a:t>Q02 • Customers by 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0D2BE"/>
                </a:solidFill>
                <a:latin typeface="Aptos"/>
              </a:rPr>
              <a:t>03 • SQL QUERY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01968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9DB4BC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051560"/>
            <a:ext cx="5440680" cy="2423160"/>
          </a:xfrm>
          <a:prstGeom prst="roundRect">
            <a:avLst/>
          </a:prstGeom>
          <a:solidFill>
            <a:srgbClr val="040F19"/>
          </a:solidFill>
          <a:ln w="12700">
            <a:solidFill>
              <a:srgbClr val="1A4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051560"/>
            <a:ext cx="50292" cy="242316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170431"/>
            <a:ext cx="4812215" cy="1107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dirty="0">
                <a:solidFill>
                  <a:srgbClr val="57E7DC"/>
                </a:solidFill>
                <a:latin typeface="Consolas"/>
              </a:rPr>
              <a:t>SELECT City, COUNT(*) AS </a:t>
            </a:r>
            <a:r>
              <a:rPr dirty="0" err="1">
                <a:solidFill>
                  <a:srgbClr val="57E7DC"/>
                </a:solidFill>
                <a:latin typeface="Consolas"/>
              </a:rPr>
              <a:t>CustomerCount</a:t>
            </a:r>
            <a:r>
              <a:rPr dirty="0">
                <a:solidFill>
                  <a:srgbClr val="57E7DC"/>
                </a:solidFill>
                <a:latin typeface="Consolas"/>
              </a:rPr>
              <a:t>
FROM </a:t>
            </a:r>
            <a:r>
              <a:rPr dirty="0" err="1">
                <a:solidFill>
                  <a:srgbClr val="57E7DC"/>
                </a:solidFill>
                <a:latin typeface="Consolas"/>
              </a:rPr>
              <a:t>dbo.Customers</a:t>
            </a:r>
            <a:r>
              <a:rPr dirty="0">
                <a:solidFill>
                  <a:srgbClr val="57E7DC"/>
                </a:solidFill>
                <a:latin typeface="Consolas"/>
              </a:rPr>
              <a:t>
GROUP BY City
ORDER BY </a:t>
            </a:r>
            <a:r>
              <a:rPr dirty="0" err="1">
                <a:solidFill>
                  <a:srgbClr val="57E7DC"/>
                </a:solidFill>
                <a:latin typeface="Consolas"/>
              </a:rPr>
              <a:t>CustomerCount</a:t>
            </a:r>
            <a:r>
              <a:rPr dirty="0">
                <a:solidFill>
                  <a:srgbClr val="57E7DC"/>
                </a:solidFill>
                <a:latin typeface="Consolas"/>
              </a:rPr>
              <a:t> DESC;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685032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D2BE"/>
                </a:solidFill>
                <a:latin typeface="Aptos"/>
              </a:rPr>
              <a:t>OUTPUT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1051560"/>
          <a:ext cx="52120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09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City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CustomerCount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Mumbai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Pune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Nashik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4160520"/>
            <a:ext cx="10863072" cy="132588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462272"/>
            <a:ext cx="914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00D2BE"/>
                </a:solidFill>
                <a:latin typeface="Aptos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435332"/>
            <a:ext cx="9326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F2F8F9"/>
                </a:solidFill>
                <a:latin typeface="Aptos"/>
              </a:rPr>
              <a:t>Groups customers to reveal geographic distribution.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1E4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2F8F9"/>
                </a:solidFill>
                <a:latin typeface="Aptos"/>
              </a:rPr>
              <a:t>Q03 • Account balances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0D2BE"/>
                </a:solidFill>
                <a:latin typeface="Aptos"/>
              </a:rPr>
              <a:t>03 • SQL QUERY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01968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9DB4BC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051560"/>
            <a:ext cx="5440680" cy="2423160"/>
          </a:xfrm>
          <a:prstGeom prst="roundRect">
            <a:avLst/>
          </a:prstGeom>
          <a:solidFill>
            <a:srgbClr val="040F19"/>
          </a:solidFill>
          <a:ln w="12700">
            <a:solidFill>
              <a:srgbClr val="1A4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051560"/>
            <a:ext cx="50292" cy="242316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170431"/>
            <a:ext cx="4937614" cy="11079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dirty="0">
                <a:solidFill>
                  <a:srgbClr val="57E7DC"/>
                </a:solidFill>
                <a:latin typeface="Consolas"/>
              </a:rPr>
              <a:t>SELECT </a:t>
            </a:r>
            <a:r>
              <a:rPr dirty="0" err="1">
                <a:solidFill>
                  <a:srgbClr val="57E7DC"/>
                </a:solidFill>
                <a:latin typeface="Consolas"/>
              </a:rPr>
              <a:t>AccountID</a:t>
            </a:r>
            <a:r>
              <a:rPr dirty="0">
                <a:solidFill>
                  <a:srgbClr val="57E7DC"/>
                </a:solidFill>
                <a:latin typeface="Consolas"/>
              </a:rPr>
              <a:t>, </a:t>
            </a:r>
            <a:r>
              <a:rPr dirty="0" err="1">
                <a:solidFill>
                  <a:srgbClr val="57E7DC"/>
                </a:solidFill>
                <a:latin typeface="Consolas"/>
              </a:rPr>
              <a:t>CustomerID</a:t>
            </a:r>
            <a:r>
              <a:rPr dirty="0">
                <a:solidFill>
                  <a:srgbClr val="57E7DC"/>
                </a:solidFill>
                <a:latin typeface="Consolas"/>
              </a:rPr>
              <a:t>, </a:t>
            </a:r>
            <a:r>
              <a:rPr dirty="0" err="1">
                <a:solidFill>
                  <a:srgbClr val="57E7DC"/>
                </a:solidFill>
                <a:latin typeface="Consolas"/>
              </a:rPr>
              <a:t>AccountType</a:t>
            </a:r>
            <a:r>
              <a:rPr dirty="0">
                <a:solidFill>
                  <a:srgbClr val="57E7DC"/>
                </a:solidFill>
                <a:latin typeface="Consolas"/>
              </a:rPr>
              <a:t>, Balance
FROM </a:t>
            </a:r>
            <a:r>
              <a:rPr dirty="0" err="1">
                <a:solidFill>
                  <a:srgbClr val="57E7DC"/>
                </a:solidFill>
                <a:latin typeface="Consolas"/>
              </a:rPr>
              <a:t>dbo.Accounts</a:t>
            </a:r>
            <a:r>
              <a:rPr dirty="0">
                <a:solidFill>
                  <a:srgbClr val="57E7DC"/>
                </a:solidFill>
                <a:latin typeface="Consolas"/>
              </a:rPr>
              <a:t>
ORDER BY Balance DESC;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685032"/>
            <a:ext cx="5303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00D2BE"/>
                </a:solidFill>
                <a:latin typeface="Aptos"/>
              </a:rPr>
              <a:t>OUTPUT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1051560"/>
          <a:ext cx="52120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AccountID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CustomerID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AccountType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Balance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A1001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Savings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125000.00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A1003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98000.00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A1002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Savings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76500.00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A1004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Savings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42500.00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4160520"/>
            <a:ext cx="10863072" cy="132588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462272"/>
            <a:ext cx="914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00D2BE"/>
                </a:solidFill>
                <a:latin typeface="Aptos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407408"/>
            <a:ext cx="9326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F2F8F9"/>
                </a:solidFill>
                <a:latin typeface="Aptos"/>
              </a:rPr>
              <a:t>Shows account balances for financial monitoring.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1E4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2412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F2F8F9"/>
                </a:solidFill>
                <a:latin typeface="Aptos"/>
              </a:rPr>
              <a:t>Q04 • Total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"/>
            <a:ext cx="2743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03 • SQL QUERY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01968"/>
            <a:ext cx="502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b="0">
                <a:solidFill>
                  <a:srgbClr val="9DB4BC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051560"/>
            <a:ext cx="5440680" cy="2423160"/>
          </a:xfrm>
          <a:prstGeom prst="roundRect">
            <a:avLst/>
          </a:prstGeom>
          <a:solidFill>
            <a:srgbClr val="040F19"/>
          </a:solidFill>
          <a:ln w="12700">
            <a:solidFill>
              <a:srgbClr val="1A4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051560"/>
            <a:ext cx="50292" cy="242316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170431"/>
            <a:ext cx="4938853" cy="553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>
                <a:solidFill>
                  <a:srgbClr val="57E7DC"/>
                </a:solidFill>
                <a:latin typeface="Consolas"/>
              </a:rPr>
              <a:t>SELECT SUM(Balance) AS TotalBankBalance
FROM dbo.Accounts;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685032"/>
            <a:ext cx="5303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OUTPUT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1051560"/>
          <a:ext cx="52120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4018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TotalBankBalance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18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342000.00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4160520"/>
            <a:ext cx="10863072" cy="132588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462272"/>
            <a:ext cx="914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407408"/>
            <a:ext cx="9326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>
                <a:solidFill>
                  <a:srgbClr val="F2F8F9"/>
                </a:solidFill>
                <a:latin typeface="Aptos"/>
              </a:rPr>
              <a:t>Calculates the overall balance held in accounts.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1E4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5216" y="532138"/>
            <a:ext cx="102412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F2F8F9"/>
                </a:solidFill>
                <a:latin typeface="Aptos"/>
              </a:rPr>
              <a:t>Q05 • Account count by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"/>
            <a:ext cx="2743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03 • SQL QUERY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01968"/>
            <a:ext cx="502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b="0">
                <a:solidFill>
                  <a:srgbClr val="9DB4BC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051560"/>
            <a:ext cx="5440680" cy="2423160"/>
          </a:xfrm>
          <a:prstGeom prst="roundRect">
            <a:avLst/>
          </a:prstGeom>
          <a:solidFill>
            <a:srgbClr val="040F19"/>
          </a:solidFill>
          <a:ln w="12700">
            <a:solidFill>
              <a:srgbClr val="1A4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051560"/>
            <a:ext cx="50292" cy="242316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170430"/>
            <a:ext cx="4171828" cy="11079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dirty="0">
                <a:solidFill>
                  <a:srgbClr val="57E7DC"/>
                </a:solidFill>
                <a:latin typeface="Consolas"/>
              </a:rPr>
              <a:t>SELECT </a:t>
            </a:r>
            <a:r>
              <a:rPr dirty="0" err="1">
                <a:solidFill>
                  <a:srgbClr val="57E7DC"/>
                </a:solidFill>
                <a:latin typeface="Consolas"/>
              </a:rPr>
              <a:t>AccountType</a:t>
            </a:r>
            <a:r>
              <a:rPr dirty="0">
                <a:solidFill>
                  <a:srgbClr val="57E7DC"/>
                </a:solidFill>
                <a:latin typeface="Consolas"/>
              </a:rPr>
              <a:t>, COUNT(*) AS </a:t>
            </a:r>
            <a:r>
              <a:rPr dirty="0" err="1">
                <a:solidFill>
                  <a:srgbClr val="57E7DC"/>
                </a:solidFill>
                <a:latin typeface="Consolas"/>
              </a:rPr>
              <a:t>AccountCount</a:t>
            </a:r>
            <a:r>
              <a:rPr dirty="0">
                <a:solidFill>
                  <a:srgbClr val="57E7DC"/>
                </a:solidFill>
                <a:latin typeface="Consolas"/>
              </a:rPr>
              <a:t>
FROM </a:t>
            </a:r>
            <a:r>
              <a:rPr dirty="0" err="1">
                <a:solidFill>
                  <a:srgbClr val="57E7DC"/>
                </a:solidFill>
                <a:latin typeface="Consolas"/>
              </a:rPr>
              <a:t>dbo.Accounts</a:t>
            </a:r>
            <a:r>
              <a:rPr dirty="0">
                <a:solidFill>
                  <a:srgbClr val="57E7DC"/>
                </a:solidFill>
                <a:latin typeface="Consolas"/>
              </a:rPr>
              <a:t>
GROUP BY </a:t>
            </a:r>
            <a:r>
              <a:rPr dirty="0" err="1">
                <a:solidFill>
                  <a:srgbClr val="57E7DC"/>
                </a:solidFill>
                <a:latin typeface="Consolas"/>
              </a:rPr>
              <a:t>AccountType</a:t>
            </a:r>
            <a:r>
              <a:rPr dirty="0">
                <a:solidFill>
                  <a:srgbClr val="57E7DC"/>
                </a:solidFill>
                <a:latin typeface="Consolas"/>
              </a:rPr>
              <a:t>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685032"/>
            <a:ext cx="5303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OUTPUT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1051560"/>
          <a:ext cx="52120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AccountType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AccountCount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Savings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4160520"/>
            <a:ext cx="10863072" cy="132588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462272"/>
            <a:ext cx="914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464828"/>
            <a:ext cx="9326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F2F8F9"/>
                </a:solidFill>
                <a:latin typeface="Aptos"/>
              </a:rPr>
              <a:t>Compares account volume across account types.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1E4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523994"/>
            <a:ext cx="102412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F2F8F9"/>
                </a:solidFill>
                <a:latin typeface="Aptos"/>
              </a:rPr>
              <a:t>Q06 • High-value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"/>
            <a:ext cx="2743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00D2BE"/>
                </a:solidFill>
                <a:latin typeface="Aptos"/>
              </a:rPr>
              <a:t>03 • SQL QUERY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01968"/>
            <a:ext cx="502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b="0">
                <a:solidFill>
                  <a:srgbClr val="9DB4BC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051560"/>
            <a:ext cx="5440680" cy="2423160"/>
          </a:xfrm>
          <a:prstGeom prst="roundRect">
            <a:avLst/>
          </a:prstGeom>
          <a:solidFill>
            <a:srgbClr val="040F19"/>
          </a:solidFill>
          <a:ln w="12700">
            <a:solidFill>
              <a:srgbClr val="1A4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051560"/>
            <a:ext cx="50292" cy="242316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170431"/>
            <a:ext cx="4685578" cy="1107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dirty="0">
                <a:solidFill>
                  <a:srgbClr val="57E7DC"/>
                </a:solidFill>
                <a:latin typeface="Consolas"/>
              </a:rPr>
              <a:t>SELECT </a:t>
            </a:r>
            <a:r>
              <a:rPr dirty="0" err="1">
                <a:solidFill>
                  <a:srgbClr val="57E7DC"/>
                </a:solidFill>
                <a:latin typeface="Consolas"/>
              </a:rPr>
              <a:t>AccountID</a:t>
            </a:r>
            <a:r>
              <a:rPr dirty="0">
                <a:solidFill>
                  <a:srgbClr val="57E7DC"/>
                </a:solidFill>
                <a:latin typeface="Consolas"/>
              </a:rPr>
              <a:t>, </a:t>
            </a:r>
            <a:r>
              <a:rPr dirty="0" err="1">
                <a:solidFill>
                  <a:srgbClr val="57E7DC"/>
                </a:solidFill>
                <a:latin typeface="Consolas"/>
              </a:rPr>
              <a:t>CustomerID</a:t>
            </a:r>
            <a:r>
              <a:rPr dirty="0">
                <a:solidFill>
                  <a:srgbClr val="57E7DC"/>
                </a:solidFill>
                <a:latin typeface="Consolas"/>
              </a:rPr>
              <a:t>, Balance
FROM </a:t>
            </a:r>
            <a:r>
              <a:rPr dirty="0" err="1">
                <a:solidFill>
                  <a:srgbClr val="57E7DC"/>
                </a:solidFill>
                <a:latin typeface="Consolas"/>
              </a:rPr>
              <a:t>dbo.Accounts</a:t>
            </a:r>
            <a:r>
              <a:rPr dirty="0">
                <a:solidFill>
                  <a:srgbClr val="57E7DC"/>
                </a:solidFill>
                <a:latin typeface="Consolas"/>
              </a:rPr>
              <a:t>
WHERE Balance &gt;= 90000
ORDER BY Balance DESC;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685032"/>
            <a:ext cx="5303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OUTPUT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1051560"/>
          <a:ext cx="52120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AccountID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CustomerID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Balance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A1001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125000.00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A1003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98000.00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4160520"/>
            <a:ext cx="10863072" cy="132588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462272"/>
            <a:ext cx="914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475988"/>
            <a:ext cx="9326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F2F8F9"/>
                </a:solidFill>
                <a:latin typeface="Aptos"/>
              </a:rPr>
              <a:t>Filters accounts that meet a high-balance threshold.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1E4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5216" y="515635"/>
            <a:ext cx="102412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F2F8F9"/>
                </a:solidFill>
                <a:latin typeface="Aptos"/>
              </a:rPr>
              <a:t>Q07 • Recent 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"/>
            <a:ext cx="2743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03 • SQL QUERY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01968"/>
            <a:ext cx="502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b="0">
                <a:solidFill>
                  <a:srgbClr val="9DB4BC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051560"/>
            <a:ext cx="5440680" cy="2423160"/>
          </a:xfrm>
          <a:prstGeom prst="roundRect">
            <a:avLst/>
          </a:prstGeom>
          <a:solidFill>
            <a:srgbClr val="040F19"/>
          </a:solidFill>
          <a:ln w="12700">
            <a:solidFill>
              <a:srgbClr val="1A4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051560"/>
            <a:ext cx="50292" cy="242316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170431"/>
            <a:ext cx="5666331" cy="11079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dirty="0">
                <a:solidFill>
                  <a:srgbClr val="57E7DC"/>
                </a:solidFill>
                <a:latin typeface="Consolas"/>
              </a:rPr>
              <a:t>SELECT TOP 5 </a:t>
            </a:r>
            <a:r>
              <a:rPr dirty="0" err="1">
                <a:solidFill>
                  <a:srgbClr val="57E7DC"/>
                </a:solidFill>
                <a:latin typeface="Consolas"/>
              </a:rPr>
              <a:t>TransactionID</a:t>
            </a:r>
            <a:r>
              <a:rPr dirty="0">
                <a:solidFill>
                  <a:srgbClr val="57E7DC"/>
                </a:solidFill>
                <a:latin typeface="Consolas"/>
              </a:rPr>
              <a:t>, </a:t>
            </a:r>
            <a:r>
              <a:rPr dirty="0" err="1">
                <a:solidFill>
                  <a:srgbClr val="57E7DC"/>
                </a:solidFill>
                <a:latin typeface="Consolas"/>
              </a:rPr>
              <a:t>AccountID</a:t>
            </a:r>
            <a:r>
              <a:rPr dirty="0">
                <a:solidFill>
                  <a:srgbClr val="57E7DC"/>
                </a:solidFill>
                <a:latin typeface="Consolas"/>
              </a:rPr>
              <a:t>, </a:t>
            </a:r>
            <a:r>
              <a:rPr dirty="0" err="1">
                <a:solidFill>
                  <a:srgbClr val="57E7DC"/>
                </a:solidFill>
                <a:latin typeface="Consolas"/>
              </a:rPr>
              <a:t>TransactionType</a:t>
            </a:r>
            <a:r>
              <a:rPr dirty="0">
                <a:solidFill>
                  <a:srgbClr val="57E7DC"/>
                </a:solidFill>
                <a:latin typeface="Consolas"/>
              </a:rPr>
              <a:t>, Amount, </a:t>
            </a:r>
            <a:r>
              <a:rPr dirty="0" err="1">
                <a:solidFill>
                  <a:srgbClr val="57E7DC"/>
                </a:solidFill>
                <a:latin typeface="Consolas"/>
              </a:rPr>
              <a:t>TransactionDate</a:t>
            </a:r>
            <a:r>
              <a:rPr dirty="0">
                <a:solidFill>
                  <a:srgbClr val="57E7DC"/>
                </a:solidFill>
                <a:latin typeface="Consolas"/>
              </a:rPr>
              <a:t>
FROM </a:t>
            </a:r>
            <a:r>
              <a:rPr dirty="0" err="1">
                <a:solidFill>
                  <a:srgbClr val="57E7DC"/>
                </a:solidFill>
                <a:latin typeface="Consolas"/>
              </a:rPr>
              <a:t>dbo.Transactions</a:t>
            </a:r>
            <a:r>
              <a:rPr dirty="0">
                <a:solidFill>
                  <a:srgbClr val="57E7DC"/>
                </a:solidFill>
                <a:latin typeface="Consolas"/>
              </a:rPr>
              <a:t>
ORDER BY </a:t>
            </a:r>
            <a:r>
              <a:rPr dirty="0" err="1">
                <a:solidFill>
                  <a:srgbClr val="57E7DC"/>
                </a:solidFill>
                <a:latin typeface="Consolas"/>
              </a:rPr>
              <a:t>TransactionDate</a:t>
            </a:r>
            <a:r>
              <a:rPr dirty="0">
                <a:solidFill>
                  <a:srgbClr val="57E7DC"/>
                </a:solidFill>
                <a:latin typeface="Consolas"/>
              </a:rPr>
              <a:t> DESC;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685032"/>
            <a:ext cx="5303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OUTPUT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1051560"/>
          <a:ext cx="52120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TransactionID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AccountID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T501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A1002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Deposit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15000.00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T500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A1001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Withdrawal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5000.00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T499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A1003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Deposit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22000.00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T498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A1004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Withdrawal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2500.00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T497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A1001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Deposit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12000.00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4160520"/>
            <a:ext cx="10863072" cy="132588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462272"/>
            <a:ext cx="914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475988"/>
            <a:ext cx="9326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F2F8F9"/>
                </a:solidFill>
                <a:latin typeface="Aptos"/>
              </a:rPr>
              <a:t>Surfaces the latest financial activity for review.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1E4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5216" y="513957"/>
            <a:ext cx="102412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F2F8F9"/>
                </a:solidFill>
                <a:latin typeface="Aptos"/>
              </a:rPr>
              <a:t>Q08 • Transaction totals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204953"/>
            <a:ext cx="2743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03 • SQL QUERY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01968"/>
            <a:ext cx="502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b="0">
                <a:solidFill>
                  <a:srgbClr val="9DB4BC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051560"/>
            <a:ext cx="5440680" cy="2423160"/>
          </a:xfrm>
          <a:prstGeom prst="roundRect">
            <a:avLst/>
          </a:prstGeom>
          <a:solidFill>
            <a:srgbClr val="040F19"/>
          </a:solidFill>
          <a:ln w="12700">
            <a:solidFill>
              <a:srgbClr val="1A4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051560"/>
            <a:ext cx="50292" cy="242316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170431"/>
            <a:ext cx="4700509" cy="11079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dirty="0">
                <a:solidFill>
                  <a:srgbClr val="57E7DC"/>
                </a:solidFill>
                <a:latin typeface="Consolas"/>
              </a:rPr>
              <a:t>SELECT </a:t>
            </a:r>
            <a:r>
              <a:rPr dirty="0" err="1">
                <a:solidFill>
                  <a:srgbClr val="57E7DC"/>
                </a:solidFill>
                <a:latin typeface="Consolas"/>
              </a:rPr>
              <a:t>TransactionType</a:t>
            </a:r>
            <a:r>
              <a:rPr dirty="0">
                <a:solidFill>
                  <a:srgbClr val="57E7DC"/>
                </a:solidFill>
                <a:latin typeface="Consolas"/>
              </a:rPr>
              <a:t>, SUM(Amount) AS </a:t>
            </a:r>
            <a:r>
              <a:rPr dirty="0" err="1">
                <a:solidFill>
                  <a:srgbClr val="57E7DC"/>
                </a:solidFill>
                <a:latin typeface="Consolas"/>
              </a:rPr>
              <a:t>TotalAmount</a:t>
            </a:r>
            <a:r>
              <a:rPr dirty="0">
                <a:solidFill>
                  <a:srgbClr val="57E7DC"/>
                </a:solidFill>
                <a:latin typeface="Consolas"/>
              </a:rPr>
              <a:t>
FROM </a:t>
            </a:r>
            <a:r>
              <a:rPr dirty="0" err="1">
                <a:solidFill>
                  <a:srgbClr val="57E7DC"/>
                </a:solidFill>
                <a:latin typeface="Consolas"/>
              </a:rPr>
              <a:t>dbo.Transactions</a:t>
            </a:r>
            <a:r>
              <a:rPr dirty="0">
                <a:solidFill>
                  <a:srgbClr val="57E7DC"/>
                </a:solidFill>
                <a:latin typeface="Consolas"/>
              </a:rPr>
              <a:t>
GROUP BY </a:t>
            </a:r>
            <a:r>
              <a:rPr dirty="0" err="1">
                <a:solidFill>
                  <a:srgbClr val="57E7DC"/>
                </a:solidFill>
                <a:latin typeface="Consolas"/>
              </a:rPr>
              <a:t>TransactionType</a:t>
            </a:r>
            <a:r>
              <a:rPr dirty="0">
                <a:solidFill>
                  <a:srgbClr val="57E7DC"/>
                </a:solidFill>
                <a:latin typeface="Consolas"/>
              </a:rPr>
              <a:t>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685032"/>
            <a:ext cx="5303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OUTPUT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1051560"/>
          <a:ext cx="52120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TransactionType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TotalAmount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Deposit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97000.00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Withdrawal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30500.00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4160520"/>
            <a:ext cx="10863072" cy="132588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462272"/>
            <a:ext cx="914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484493"/>
            <a:ext cx="9326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F2F8F9"/>
                </a:solidFill>
                <a:latin typeface="Aptos"/>
              </a:rPr>
              <a:t>Aggregates transaction values by movement type.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1E4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485123"/>
            <a:ext cx="102412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F2F8F9"/>
                </a:solidFill>
                <a:latin typeface="Aptos"/>
              </a:rPr>
              <a:t>Q09 • Average transaction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"/>
            <a:ext cx="2743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03 • SQL QUERY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01968"/>
            <a:ext cx="502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b="0">
                <a:solidFill>
                  <a:srgbClr val="9DB4BC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051560"/>
            <a:ext cx="5440680" cy="2423160"/>
          </a:xfrm>
          <a:prstGeom prst="roundRect">
            <a:avLst/>
          </a:prstGeom>
          <a:solidFill>
            <a:srgbClr val="040F19"/>
          </a:solidFill>
          <a:ln w="12700">
            <a:solidFill>
              <a:srgbClr val="1A4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051560"/>
            <a:ext cx="50292" cy="242316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170431"/>
            <a:ext cx="5065489" cy="553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dirty="0">
                <a:solidFill>
                  <a:srgbClr val="57E7DC"/>
                </a:solidFill>
                <a:latin typeface="Consolas"/>
              </a:rPr>
              <a:t>SELECT AVG(Amount) AS </a:t>
            </a:r>
            <a:r>
              <a:rPr dirty="0" err="1">
                <a:solidFill>
                  <a:srgbClr val="57E7DC"/>
                </a:solidFill>
                <a:latin typeface="Consolas"/>
              </a:rPr>
              <a:t>AverageTransaction</a:t>
            </a:r>
            <a:r>
              <a:rPr dirty="0">
                <a:solidFill>
                  <a:srgbClr val="57E7DC"/>
                </a:solidFill>
                <a:latin typeface="Consolas"/>
              </a:rPr>
              <a:t>
FROM </a:t>
            </a:r>
            <a:r>
              <a:rPr dirty="0" err="1">
                <a:solidFill>
                  <a:srgbClr val="57E7DC"/>
                </a:solidFill>
                <a:latin typeface="Consolas"/>
              </a:rPr>
              <a:t>dbo.Transactions</a:t>
            </a:r>
            <a:r>
              <a:rPr dirty="0">
                <a:solidFill>
                  <a:srgbClr val="57E7DC"/>
                </a:solidFill>
                <a:latin typeface="Consolas"/>
              </a:rPr>
              <a:t>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685032"/>
            <a:ext cx="5303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OUTPUT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1051560"/>
          <a:ext cx="52120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4018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AverageTransaction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18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12750.00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4160520"/>
            <a:ext cx="10863072" cy="132588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462272"/>
            <a:ext cx="914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433054"/>
            <a:ext cx="9326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F2F8F9"/>
                </a:solidFill>
                <a:latin typeface="Aptos"/>
              </a:rPr>
              <a:t>Calculates the mean transaction amount.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1E4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465557"/>
            <a:ext cx="102412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F2F8F9"/>
                </a:solidFill>
                <a:latin typeface="Aptos"/>
              </a:rPr>
              <a:t>Q10 • Customers with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"/>
            <a:ext cx="2743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03 • SQL QUERY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01968"/>
            <a:ext cx="502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b="0">
                <a:solidFill>
                  <a:srgbClr val="9DB4BC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051560"/>
            <a:ext cx="5440680" cy="2423160"/>
          </a:xfrm>
          <a:prstGeom prst="roundRect">
            <a:avLst/>
          </a:prstGeom>
          <a:solidFill>
            <a:srgbClr val="040F19"/>
          </a:solidFill>
          <a:ln w="12700">
            <a:solidFill>
              <a:srgbClr val="1A4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051560"/>
            <a:ext cx="50292" cy="242316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170431"/>
            <a:ext cx="5276089" cy="16619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dirty="0">
                <a:solidFill>
                  <a:srgbClr val="57E7DC"/>
                </a:solidFill>
                <a:latin typeface="Consolas"/>
              </a:rPr>
              <a:t>SELECT </a:t>
            </a:r>
            <a:r>
              <a:rPr dirty="0" err="1">
                <a:solidFill>
                  <a:srgbClr val="57E7DC"/>
                </a:solidFill>
                <a:latin typeface="Consolas"/>
              </a:rPr>
              <a:t>c.CustomerID</a:t>
            </a:r>
            <a:r>
              <a:rPr dirty="0">
                <a:solidFill>
                  <a:srgbClr val="57E7DC"/>
                </a:solidFill>
                <a:latin typeface="Consolas"/>
              </a:rPr>
              <a:t>, </a:t>
            </a:r>
            <a:r>
              <a:rPr dirty="0" err="1">
                <a:solidFill>
                  <a:srgbClr val="57E7DC"/>
                </a:solidFill>
                <a:latin typeface="Consolas"/>
              </a:rPr>
              <a:t>c.FirstName</a:t>
            </a:r>
            <a:r>
              <a:rPr dirty="0">
                <a:solidFill>
                  <a:srgbClr val="57E7DC"/>
                </a:solidFill>
                <a:latin typeface="Consolas"/>
              </a:rPr>
              <a:t>, </a:t>
            </a:r>
            <a:r>
              <a:rPr dirty="0" err="1">
                <a:solidFill>
                  <a:srgbClr val="57E7DC"/>
                </a:solidFill>
                <a:latin typeface="Consolas"/>
              </a:rPr>
              <a:t>c.LastName</a:t>
            </a:r>
            <a:r>
              <a:rPr dirty="0">
                <a:solidFill>
                  <a:srgbClr val="57E7DC"/>
                </a:solidFill>
                <a:latin typeface="Consolas"/>
              </a:rPr>
              <a:t>, </a:t>
            </a:r>
            <a:r>
              <a:rPr dirty="0" err="1">
                <a:solidFill>
                  <a:srgbClr val="57E7DC"/>
                </a:solidFill>
                <a:latin typeface="Consolas"/>
              </a:rPr>
              <a:t>a.AccountID</a:t>
            </a:r>
            <a:r>
              <a:rPr dirty="0">
                <a:solidFill>
                  <a:srgbClr val="57E7DC"/>
                </a:solidFill>
                <a:latin typeface="Consolas"/>
              </a:rPr>
              <a:t>
FROM </a:t>
            </a:r>
            <a:r>
              <a:rPr dirty="0" err="1">
                <a:solidFill>
                  <a:srgbClr val="57E7DC"/>
                </a:solidFill>
                <a:latin typeface="Consolas"/>
              </a:rPr>
              <a:t>dbo.Customers</a:t>
            </a:r>
            <a:r>
              <a:rPr dirty="0">
                <a:solidFill>
                  <a:srgbClr val="57E7DC"/>
                </a:solidFill>
                <a:latin typeface="Consolas"/>
              </a:rPr>
              <a:t> c
INNER JOIN </a:t>
            </a:r>
            <a:r>
              <a:rPr dirty="0" err="1">
                <a:solidFill>
                  <a:srgbClr val="57E7DC"/>
                </a:solidFill>
                <a:latin typeface="Consolas"/>
              </a:rPr>
              <a:t>dbo.Accounts</a:t>
            </a:r>
            <a:r>
              <a:rPr dirty="0">
                <a:solidFill>
                  <a:srgbClr val="57E7DC"/>
                </a:solidFill>
                <a:latin typeface="Consolas"/>
              </a:rPr>
              <a:t> a
    ON </a:t>
            </a:r>
            <a:r>
              <a:rPr dirty="0" err="1">
                <a:solidFill>
                  <a:srgbClr val="57E7DC"/>
                </a:solidFill>
                <a:latin typeface="Consolas"/>
              </a:rPr>
              <a:t>c.CustomerID</a:t>
            </a:r>
            <a:r>
              <a:rPr dirty="0">
                <a:solidFill>
                  <a:srgbClr val="57E7DC"/>
                </a:solidFill>
                <a:latin typeface="Consolas"/>
              </a:rPr>
              <a:t> = </a:t>
            </a:r>
            <a:r>
              <a:rPr dirty="0" err="1">
                <a:solidFill>
                  <a:srgbClr val="57E7DC"/>
                </a:solidFill>
                <a:latin typeface="Consolas"/>
              </a:rPr>
              <a:t>a.CustomerID</a:t>
            </a:r>
            <a:r>
              <a:rPr dirty="0">
                <a:solidFill>
                  <a:srgbClr val="57E7DC"/>
                </a:solidFill>
                <a:latin typeface="Consolas"/>
              </a:rPr>
              <a:t>
ORDER BY </a:t>
            </a:r>
            <a:r>
              <a:rPr dirty="0" err="1">
                <a:solidFill>
                  <a:srgbClr val="57E7DC"/>
                </a:solidFill>
                <a:latin typeface="Consolas"/>
              </a:rPr>
              <a:t>c.CustomerID</a:t>
            </a:r>
            <a:r>
              <a:rPr dirty="0">
                <a:solidFill>
                  <a:srgbClr val="57E7DC"/>
                </a:solidFill>
                <a:latin typeface="Consolas"/>
              </a:rPr>
              <a:t>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685032"/>
            <a:ext cx="5303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OUTPUT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1051560"/>
          <a:ext cx="52120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CustomerID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AccountID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Aarav Shah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A1001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Priya Patel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A1002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Rohan Kulkarni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A1003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Sneha Joshi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A1004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4160520"/>
            <a:ext cx="10863072" cy="132588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462272"/>
            <a:ext cx="914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484218"/>
            <a:ext cx="9326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F2F8F9"/>
                </a:solidFill>
                <a:latin typeface="Aptos"/>
              </a:rPr>
              <a:t>Demonstrates an INNER JOIN across customer and account tables.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1E4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485811"/>
            <a:ext cx="102412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F2F8F9"/>
                </a:solidFill>
                <a:latin typeface="Aptos"/>
              </a:rPr>
              <a:t>Q11 • Customer account balances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"/>
            <a:ext cx="2743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00D2BE"/>
                </a:solidFill>
                <a:latin typeface="Aptos"/>
              </a:rPr>
              <a:t>03 • SQL QUERY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01968"/>
            <a:ext cx="502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b="0">
                <a:solidFill>
                  <a:srgbClr val="9DB4BC"/>
                </a:solidFill>
                <a:latin typeface="Aptos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051560"/>
            <a:ext cx="5440680" cy="2423160"/>
          </a:xfrm>
          <a:prstGeom prst="roundRect">
            <a:avLst/>
          </a:prstGeom>
          <a:solidFill>
            <a:srgbClr val="040F19"/>
          </a:solidFill>
          <a:ln w="12700">
            <a:solidFill>
              <a:srgbClr val="1A4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051560"/>
            <a:ext cx="50292" cy="242316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170431"/>
            <a:ext cx="5285233" cy="22159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dirty="0">
                <a:solidFill>
                  <a:srgbClr val="57E7DC"/>
                </a:solidFill>
                <a:latin typeface="Consolas"/>
              </a:rPr>
              <a:t>SELECT </a:t>
            </a:r>
            <a:r>
              <a:rPr dirty="0" err="1">
                <a:solidFill>
                  <a:srgbClr val="57E7DC"/>
                </a:solidFill>
                <a:latin typeface="Consolas"/>
              </a:rPr>
              <a:t>c.FirstName</a:t>
            </a:r>
            <a:r>
              <a:rPr dirty="0">
                <a:solidFill>
                  <a:srgbClr val="57E7DC"/>
                </a:solidFill>
                <a:latin typeface="Consolas"/>
              </a:rPr>
              <a:t> + ' ' + </a:t>
            </a:r>
            <a:r>
              <a:rPr dirty="0" err="1">
                <a:solidFill>
                  <a:srgbClr val="57E7DC"/>
                </a:solidFill>
                <a:latin typeface="Consolas"/>
              </a:rPr>
              <a:t>c.LastName</a:t>
            </a:r>
            <a:r>
              <a:rPr dirty="0">
                <a:solidFill>
                  <a:srgbClr val="57E7DC"/>
                </a:solidFill>
                <a:latin typeface="Consolas"/>
              </a:rPr>
              <a:t> AS Customer,
       SUM(</a:t>
            </a:r>
            <a:r>
              <a:rPr dirty="0" err="1">
                <a:solidFill>
                  <a:srgbClr val="57E7DC"/>
                </a:solidFill>
                <a:latin typeface="Consolas"/>
              </a:rPr>
              <a:t>a.Balance</a:t>
            </a:r>
            <a:r>
              <a:rPr dirty="0">
                <a:solidFill>
                  <a:srgbClr val="57E7DC"/>
                </a:solidFill>
                <a:latin typeface="Consolas"/>
              </a:rPr>
              <a:t>) AS </a:t>
            </a:r>
            <a:r>
              <a:rPr dirty="0" err="1">
                <a:solidFill>
                  <a:srgbClr val="57E7DC"/>
                </a:solidFill>
                <a:latin typeface="Consolas"/>
              </a:rPr>
              <a:t>TotalBalance</a:t>
            </a:r>
            <a:r>
              <a:rPr dirty="0">
                <a:solidFill>
                  <a:srgbClr val="57E7DC"/>
                </a:solidFill>
                <a:latin typeface="Consolas"/>
              </a:rPr>
              <a:t>
FROM </a:t>
            </a:r>
            <a:r>
              <a:rPr dirty="0" err="1">
                <a:solidFill>
                  <a:srgbClr val="57E7DC"/>
                </a:solidFill>
                <a:latin typeface="Consolas"/>
              </a:rPr>
              <a:t>dbo.Customers</a:t>
            </a:r>
            <a:r>
              <a:rPr dirty="0">
                <a:solidFill>
                  <a:srgbClr val="57E7DC"/>
                </a:solidFill>
                <a:latin typeface="Consolas"/>
              </a:rPr>
              <a:t> c
JOIN </a:t>
            </a:r>
            <a:r>
              <a:rPr dirty="0" err="1">
                <a:solidFill>
                  <a:srgbClr val="57E7DC"/>
                </a:solidFill>
                <a:latin typeface="Consolas"/>
              </a:rPr>
              <a:t>dbo.Accounts</a:t>
            </a:r>
            <a:r>
              <a:rPr dirty="0">
                <a:solidFill>
                  <a:srgbClr val="57E7DC"/>
                </a:solidFill>
                <a:latin typeface="Consolas"/>
              </a:rPr>
              <a:t> a ON </a:t>
            </a:r>
            <a:r>
              <a:rPr dirty="0" err="1">
                <a:solidFill>
                  <a:srgbClr val="57E7DC"/>
                </a:solidFill>
                <a:latin typeface="Consolas"/>
              </a:rPr>
              <a:t>c.CustomerID</a:t>
            </a:r>
            <a:r>
              <a:rPr dirty="0">
                <a:solidFill>
                  <a:srgbClr val="57E7DC"/>
                </a:solidFill>
                <a:latin typeface="Consolas"/>
              </a:rPr>
              <a:t> = </a:t>
            </a:r>
            <a:r>
              <a:rPr dirty="0" err="1">
                <a:solidFill>
                  <a:srgbClr val="57E7DC"/>
                </a:solidFill>
                <a:latin typeface="Consolas"/>
              </a:rPr>
              <a:t>a.CustomerID</a:t>
            </a:r>
            <a:r>
              <a:rPr dirty="0">
                <a:solidFill>
                  <a:srgbClr val="57E7DC"/>
                </a:solidFill>
                <a:latin typeface="Consolas"/>
              </a:rPr>
              <a:t>
GROUP BY </a:t>
            </a:r>
            <a:r>
              <a:rPr dirty="0" err="1">
                <a:solidFill>
                  <a:srgbClr val="57E7DC"/>
                </a:solidFill>
                <a:latin typeface="Consolas"/>
              </a:rPr>
              <a:t>c.FirstName</a:t>
            </a:r>
            <a:r>
              <a:rPr dirty="0">
                <a:solidFill>
                  <a:srgbClr val="57E7DC"/>
                </a:solidFill>
                <a:latin typeface="Consolas"/>
              </a:rPr>
              <a:t>, </a:t>
            </a:r>
            <a:r>
              <a:rPr dirty="0" err="1">
                <a:solidFill>
                  <a:srgbClr val="57E7DC"/>
                </a:solidFill>
                <a:latin typeface="Consolas"/>
              </a:rPr>
              <a:t>c.LastName</a:t>
            </a:r>
            <a:r>
              <a:rPr dirty="0">
                <a:solidFill>
                  <a:srgbClr val="57E7DC"/>
                </a:solidFill>
                <a:latin typeface="Consolas"/>
              </a:rPr>
              <a:t>
ORDER BY </a:t>
            </a:r>
            <a:r>
              <a:rPr dirty="0" err="1">
                <a:solidFill>
                  <a:srgbClr val="57E7DC"/>
                </a:solidFill>
                <a:latin typeface="Consolas"/>
              </a:rPr>
              <a:t>TotalBalance</a:t>
            </a:r>
            <a:r>
              <a:rPr dirty="0">
                <a:solidFill>
                  <a:srgbClr val="57E7DC"/>
                </a:solidFill>
                <a:latin typeface="Consolas"/>
              </a:rPr>
              <a:t> DESC;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685032"/>
            <a:ext cx="5303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OUTPUT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1051560"/>
          <a:ext cx="52120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TotalBalance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Aarav Shah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125000.00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Rohan Kulkarni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98000.00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Priya Patel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76500.00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Sneha Joshi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42500.00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4160520"/>
            <a:ext cx="10863072" cy="132588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462272"/>
            <a:ext cx="914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407408"/>
            <a:ext cx="9326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>
                <a:solidFill>
                  <a:srgbClr val="F2F8F9"/>
                </a:solidFill>
                <a:latin typeface="Aptos"/>
              </a:rPr>
              <a:t>Aggregates balances at customer level after joining tables.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1E4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515635"/>
            <a:ext cx="102412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F2F8F9"/>
                </a:solidFill>
                <a:latin typeface="Aptos"/>
              </a:rPr>
              <a:t>Q12 • Customers with loans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"/>
            <a:ext cx="2743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03 • SQL QUERY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01968"/>
            <a:ext cx="502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b="0">
                <a:solidFill>
                  <a:srgbClr val="9DB4BC"/>
                </a:solidFill>
                <a:latin typeface="Aptos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051560"/>
            <a:ext cx="5440680" cy="2423160"/>
          </a:xfrm>
          <a:prstGeom prst="roundRect">
            <a:avLst/>
          </a:prstGeom>
          <a:solidFill>
            <a:srgbClr val="040F19"/>
          </a:solidFill>
          <a:ln w="12700">
            <a:solidFill>
              <a:srgbClr val="1A4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051560"/>
            <a:ext cx="50292" cy="242316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170431"/>
            <a:ext cx="5676164" cy="16619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dirty="0">
                <a:solidFill>
                  <a:srgbClr val="57E7DC"/>
                </a:solidFill>
                <a:latin typeface="Consolas"/>
              </a:rPr>
              <a:t>SELECT </a:t>
            </a:r>
            <a:r>
              <a:rPr dirty="0" err="1">
                <a:solidFill>
                  <a:srgbClr val="57E7DC"/>
                </a:solidFill>
                <a:latin typeface="Consolas"/>
              </a:rPr>
              <a:t>c.CustomerID</a:t>
            </a:r>
            <a:r>
              <a:rPr dirty="0">
                <a:solidFill>
                  <a:srgbClr val="57E7DC"/>
                </a:solidFill>
                <a:latin typeface="Consolas"/>
              </a:rPr>
              <a:t>, </a:t>
            </a:r>
            <a:r>
              <a:rPr dirty="0" err="1">
                <a:solidFill>
                  <a:srgbClr val="57E7DC"/>
                </a:solidFill>
                <a:latin typeface="Consolas"/>
              </a:rPr>
              <a:t>c.FirstName</a:t>
            </a:r>
            <a:r>
              <a:rPr dirty="0">
                <a:solidFill>
                  <a:srgbClr val="57E7DC"/>
                </a:solidFill>
                <a:latin typeface="Consolas"/>
              </a:rPr>
              <a:t>, </a:t>
            </a:r>
            <a:r>
              <a:rPr dirty="0" err="1">
                <a:solidFill>
                  <a:srgbClr val="57E7DC"/>
                </a:solidFill>
                <a:latin typeface="Consolas"/>
              </a:rPr>
              <a:t>l.LoanID</a:t>
            </a:r>
            <a:r>
              <a:rPr dirty="0">
                <a:solidFill>
                  <a:srgbClr val="57E7DC"/>
                </a:solidFill>
                <a:latin typeface="Consolas"/>
              </a:rPr>
              <a:t>, </a:t>
            </a:r>
            <a:r>
              <a:rPr dirty="0" err="1">
                <a:solidFill>
                  <a:srgbClr val="57E7DC"/>
                </a:solidFill>
                <a:latin typeface="Consolas"/>
              </a:rPr>
              <a:t>l.LoanType</a:t>
            </a:r>
            <a:r>
              <a:rPr dirty="0">
                <a:solidFill>
                  <a:srgbClr val="57E7DC"/>
                </a:solidFill>
                <a:latin typeface="Consolas"/>
              </a:rPr>
              <a:t>, </a:t>
            </a:r>
            <a:r>
              <a:rPr dirty="0" err="1">
                <a:solidFill>
                  <a:srgbClr val="57E7DC"/>
                </a:solidFill>
                <a:latin typeface="Consolas"/>
              </a:rPr>
              <a:t>l.LoanAmount</a:t>
            </a:r>
            <a:r>
              <a:rPr dirty="0">
                <a:solidFill>
                  <a:srgbClr val="57E7DC"/>
                </a:solidFill>
                <a:latin typeface="Consolas"/>
              </a:rPr>
              <a:t>
FROM </a:t>
            </a:r>
            <a:r>
              <a:rPr dirty="0" err="1">
                <a:solidFill>
                  <a:srgbClr val="57E7DC"/>
                </a:solidFill>
                <a:latin typeface="Consolas"/>
              </a:rPr>
              <a:t>dbo.Customers</a:t>
            </a:r>
            <a:r>
              <a:rPr dirty="0">
                <a:solidFill>
                  <a:srgbClr val="57E7DC"/>
                </a:solidFill>
                <a:latin typeface="Consolas"/>
              </a:rPr>
              <a:t> c
JOIN </a:t>
            </a:r>
            <a:r>
              <a:rPr dirty="0" err="1">
                <a:solidFill>
                  <a:srgbClr val="57E7DC"/>
                </a:solidFill>
                <a:latin typeface="Consolas"/>
              </a:rPr>
              <a:t>dbo.Loans</a:t>
            </a:r>
            <a:r>
              <a:rPr dirty="0">
                <a:solidFill>
                  <a:srgbClr val="57E7DC"/>
                </a:solidFill>
                <a:latin typeface="Consolas"/>
              </a:rPr>
              <a:t> l ON </a:t>
            </a:r>
            <a:r>
              <a:rPr dirty="0" err="1">
                <a:solidFill>
                  <a:srgbClr val="57E7DC"/>
                </a:solidFill>
                <a:latin typeface="Consolas"/>
              </a:rPr>
              <a:t>c.CustomerID</a:t>
            </a:r>
            <a:r>
              <a:rPr dirty="0">
                <a:solidFill>
                  <a:srgbClr val="57E7DC"/>
                </a:solidFill>
                <a:latin typeface="Consolas"/>
              </a:rPr>
              <a:t> = </a:t>
            </a:r>
            <a:r>
              <a:rPr dirty="0" err="1">
                <a:solidFill>
                  <a:srgbClr val="57E7DC"/>
                </a:solidFill>
                <a:latin typeface="Consolas"/>
              </a:rPr>
              <a:t>l.CustomerID</a:t>
            </a:r>
            <a:r>
              <a:rPr dirty="0">
                <a:solidFill>
                  <a:srgbClr val="57E7DC"/>
                </a:solidFill>
                <a:latin typeface="Consolas"/>
              </a:rPr>
              <a:t>
ORDER BY </a:t>
            </a:r>
            <a:r>
              <a:rPr dirty="0" err="1">
                <a:solidFill>
                  <a:srgbClr val="57E7DC"/>
                </a:solidFill>
                <a:latin typeface="Consolas"/>
              </a:rPr>
              <a:t>l.LoanAmount</a:t>
            </a:r>
            <a:r>
              <a:rPr dirty="0">
                <a:solidFill>
                  <a:srgbClr val="57E7DC"/>
                </a:solidFill>
                <a:latin typeface="Consolas"/>
              </a:rPr>
              <a:t> DESC;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685032"/>
            <a:ext cx="5303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OUTPUT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1051560"/>
          <a:ext cx="52120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009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CustomerID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LoanID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LoanAmount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Priya Patel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L2002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450000.00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Aarav Shah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L2001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300000.00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Rohan Kulkarni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L2003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180000.00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4160520"/>
            <a:ext cx="10863072" cy="132588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462272"/>
            <a:ext cx="914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407408"/>
            <a:ext cx="9326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>
                <a:solidFill>
                  <a:srgbClr val="F2F8F9"/>
                </a:solidFill>
                <a:latin typeface="Aptos"/>
              </a:rPr>
              <a:t>Combines customer and loan data to expose loan ownership.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1E4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515635"/>
            <a:ext cx="102412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F2F8F9"/>
                </a:solidFill>
                <a:latin typeface="Aptos"/>
              </a:rPr>
              <a:t>Q13 • Loan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"/>
            <a:ext cx="2743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03 • SQL QUERY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01968"/>
            <a:ext cx="502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b="0">
                <a:solidFill>
                  <a:srgbClr val="9DB4BC"/>
                </a:solidFill>
                <a:latin typeface="Aptos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051560"/>
            <a:ext cx="5440680" cy="2423160"/>
          </a:xfrm>
          <a:prstGeom prst="roundRect">
            <a:avLst/>
          </a:prstGeom>
          <a:solidFill>
            <a:srgbClr val="040F19"/>
          </a:solidFill>
          <a:ln w="12700">
            <a:solidFill>
              <a:srgbClr val="1A4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051560"/>
            <a:ext cx="50292" cy="242316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170431"/>
            <a:ext cx="5065489" cy="1107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dirty="0">
                <a:solidFill>
                  <a:srgbClr val="57E7DC"/>
                </a:solidFill>
                <a:latin typeface="Consolas"/>
              </a:rPr>
              <a:t>SELECT </a:t>
            </a:r>
            <a:r>
              <a:rPr dirty="0" err="1">
                <a:solidFill>
                  <a:srgbClr val="57E7DC"/>
                </a:solidFill>
                <a:latin typeface="Consolas"/>
              </a:rPr>
              <a:t>LoanType</a:t>
            </a:r>
            <a:r>
              <a:rPr dirty="0">
                <a:solidFill>
                  <a:srgbClr val="57E7DC"/>
                </a:solidFill>
                <a:latin typeface="Consolas"/>
              </a:rPr>
              <a:t>, COUNT(*) AS </a:t>
            </a:r>
            <a:r>
              <a:rPr dirty="0" err="1">
                <a:solidFill>
                  <a:srgbClr val="57E7DC"/>
                </a:solidFill>
                <a:latin typeface="Consolas"/>
              </a:rPr>
              <a:t>LoanCount</a:t>
            </a:r>
            <a:r>
              <a:rPr dirty="0">
                <a:solidFill>
                  <a:srgbClr val="57E7DC"/>
                </a:solidFill>
                <a:latin typeface="Consolas"/>
              </a:rPr>
              <a:t>,
       SUM(</a:t>
            </a:r>
            <a:r>
              <a:rPr dirty="0" err="1">
                <a:solidFill>
                  <a:srgbClr val="57E7DC"/>
                </a:solidFill>
                <a:latin typeface="Consolas"/>
              </a:rPr>
              <a:t>LoanAmount</a:t>
            </a:r>
            <a:r>
              <a:rPr dirty="0">
                <a:solidFill>
                  <a:srgbClr val="57E7DC"/>
                </a:solidFill>
                <a:latin typeface="Consolas"/>
              </a:rPr>
              <a:t>) AS </a:t>
            </a:r>
            <a:r>
              <a:rPr dirty="0" err="1">
                <a:solidFill>
                  <a:srgbClr val="57E7DC"/>
                </a:solidFill>
                <a:latin typeface="Consolas"/>
              </a:rPr>
              <a:t>PortfolioValue</a:t>
            </a:r>
            <a:r>
              <a:rPr dirty="0">
                <a:solidFill>
                  <a:srgbClr val="57E7DC"/>
                </a:solidFill>
                <a:latin typeface="Consolas"/>
              </a:rPr>
              <a:t>
FROM </a:t>
            </a:r>
            <a:r>
              <a:rPr dirty="0" err="1">
                <a:solidFill>
                  <a:srgbClr val="57E7DC"/>
                </a:solidFill>
                <a:latin typeface="Consolas"/>
              </a:rPr>
              <a:t>dbo.Loans</a:t>
            </a:r>
            <a:r>
              <a:rPr dirty="0">
                <a:solidFill>
                  <a:srgbClr val="57E7DC"/>
                </a:solidFill>
                <a:latin typeface="Consolas"/>
              </a:rPr>
              <a:t>
GROUP BY </a:t>
            </a:r>
            <a:r>
              <a:rPr dirty="0" err="1">
                <a:solidFill>
                  <a:srgbClr val="57E7DC"/>
                </a:solidFill>
                <a:latin typeface="Consolas"/>
              </a:rPr>
              <a:t>LoanType</a:t>
            </a:r>
            <a:r>
              <a:rPr dirty="0">
                <a:solidFill>
                  <a:srgbClr val="57E7DC"/>
                </a:solidFill>
                <a:latin typeface="Consolas"/>
              </a:rPr>
              <a:t>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685032"/>
            <a:ext cx="5303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OUTPUT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1051560"/>
          <a:ext cx="52120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009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LoanType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LoanCount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PortfolioValue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Home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450000.00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Personal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300000.00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Education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180000.00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4160520"/>
            <a:ext cx="10863072" cy="132588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462272"/>
            <a:ext cx="914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407408"/>
            <a:ext cx="9326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>
                <a:solidFill>
                  <a:srgbClr val="F2F8F9"/>
                </a:solidFill>
                <a:latin typeface="Aptos"/>
              </a:rPr>
              <a:t>Summarizes the loan portfolio by loan type.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1E4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63355"/>
            <a:ext cx="102412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F2F8F9"/>
                </a:solidFill>
                <a:latin typeface="Aptos"/>
              </a:rPr>
              <a:t>Q14 • Large loans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"/>
            <a:ext cx="2743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03 • SQL QUERY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01968"/>
            <a:ext cx="502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b="0">
                <a:solidFill>
                  <a:srgbClr val="9DB4BC"/>
                </a:solidFill>
                <a:latin typeface="Aptos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051560"/>
            <a:ext cx="5440680" cy="2423160"/>
          </a:xfrm>
          <a:prstGeom prst="roundRect">
            <a:avLst/>
          </a:prstGeom>
          <a:solidFill>
            <a:srgbClr val="040F19"/>
          </a:solidFill>
          <a:ln w="12700">
            <a:solidFill>
              <a:srgbClr val="1A4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051560"/>
            <a:ext cx="50292" cy="242316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170431"/>
            <a:ext cx="4358641" cy="13849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dirty="0">
                <a:solidFill>
                  <a:srgbClr val="57E7DC"/>
                </a:solidFill>
                <a:latin typeface="Consolas"/>
              </a:rPr>
              <a:t>SELECT </a:t>
            </a:r>
            <a:r>
              <a:rPr dirty="0" err="1">
                <a:solidFill>
                  <a:srgbClr val="57E7DC"/>
                </a:solidFill>
                <a:latin typeface="Consolas"/>
              </a:rPr>
              <a:t>LoanID</a:t>
            </a:r>
            <a:r>
              <a:rPr dirty="0">
                <a:solidFill>
                  <a:srgbClr val="57E7DC"/>
                </a:solidFill>
                <a:latin typeface="Consolas"/>
              </a:rPr>
              <a:t>, </a:t>
            </a:r>
            <a:r>
              <a:rPr dirty="0" err="1">
                <a:solidFill>
                  <a:srgbClr val="57E7DC"/>
                </a:solidFill>
                <a:latin typeface="Consolas"/>
              </a:rPr>
              <a:t>CustomerID</a:t>
            </a:r>
            <a:r>
              <a:rPr dirty="0">
                <a:solidFill>
                  <a:srgbClr val="57E7DC"/>
                </a:solidFill>
                <a:latin typeface="Consolas"/>
              </a:rPr>
              <a:t>, </a:t>
            </a:r>
            <a:r>
              <a:rPr dirty="0" err="1">
                <a:solidFill>
                  <a:srgbClr val="57E7DC"/>
                </a:solidFill>
                <a:latin typeface="Consolas"/>
              </a:rPr>
              <a:t>LoanType</a:t>
            </a:r>
            <a:r>
              <a:rPr dirty="0">
                <a:solidFill>
                  <a:srgbClr val="57E7DC"/>
                </a:solidFill>
                <a:latin typeface="Consolas"/>
              </a:rPr>
              <a:t>, </a:t>
            </a:r>
            <a:r>
              <a:rPr dirty="0" err="1">
                <a:solidFill>
                  <a:srgbClr val="57E7DC"/>
                </a:solidFill>
                <a:latin typeface="Consolas"/>
              </a:rPr>
              <a:t>LoanAmount</a:t>
            </a:r>
            <a:r>
              <a:rPr dirty="0">
                <a:solidFill>
                  <a:srgbClr val="57E7DC"/>
                </a:solidFill>
                <a:latin typeface="Consolas"/>
              </a:rPr>
              <a:t>
FROM </a:t>
            </a:r>
            <a:r>
              <a:rPr dirty="0" err="1">
                <a:solidFill>
                  <a:srgbClr val="57E7DC"/>
                </a:solidFill>
                <a:latin typeface="Consolas"/>
              </a:rPr>
              <a:t>dbo.Loans</a:t>
            </a:r>
            <a:r>
              <a:rPr dirty="0">
                <a:solidFill>
                  <a:srgbClr val="57E7DC"/>
                </a:solidFill>
                <a:latin typeface="Consolas"/>
              </a:rPr>
              <a:t>
WHERE </a:t>
            </a:r>
            <a:r>
              <a:rPr dirty="0" err="1">
                <a:solidFill>
                  <a:srgbClr val="57E7DC"/>
                </a:solidFill>
                <a:latin typeface="Consolas"/>
              </a:rPr>
              <a:t>LoanAmount</a:t>
            </a:r>
            <a:r>
              <a:rPr dirty="0">
                <a:solidFill>
                  <a:srgbClr val="57E7DC"/>
                </a:solidFill>
                <a:latin typeface="Consolas"/>
              </a:rPr>
              <a:t> &gt; 250000
ORDER BY </a:t>
            </a:r>
            <a:r>
              <a:rPr dirty="0" err="1">
                <a:solidFill>
                  <a:srgbClr val="57E7DC"/>
                </a:solidFill>
                <a:latin typeface="Consolas"/>
              </a:rPr>
              <a:t>LoanAmount</a:t>
            </a:r>
            <a:r>
              <a:rPr dirty="0">
                <a:solidFill>
                  <a:srgbClr val="57E7DC"/>
                </a:solidFill>
                <a:latin typeface="Consolas"/>
              </a:rPr>
              <a:t> DESC;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685032"/>
            <a:ext cx="5303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OUTPUT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1051560"/>
          <a:ext cx="52120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LoanID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CustomerID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LoanType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LoanAmount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L2002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Home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450000.00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L2001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Personal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300000.00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4160520"/>
            <a:ext cx="10863072" cy="132588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462272"/>
            <a:ext cx="914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475988"/>
            <a:ext cx="9326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F2F8F9"/>
                </a:solidFill>
                <a:latin typeface="Aptos"/>
              </a:rPr>
              <a:t>Identifies loans above a business-defined threshold.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1E4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474715"/>
            <a:ext cx="102412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F2F8F9"/>
                </a:solidFill>
                <a:latin typeface="Aptos"/>
              </a:rPr>
              <a:t>Q15 • Rank account balances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"/>
            <a:ext cx="2743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03 • SQL QUERY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01968"/>
            <a:ext cx="502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b="0">
                <a:solidFill>
                  <a:srgbClr val="9DB4BC"/>
                </a:solidFill>
                <a:latin typeface="Aptos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051560"/>
            <a:ext cx="5440680" cy="2423160"/>
          </a:xfrm>
          <a:prstGeom prst="roundRect">
            <a:avLst/>
          </a:prstGeom>
          <a:solidFill>
            <a:srgbClr val="040F19"/>
          </a:solidFill>
          <a:ln w="12700">
            <a:solidFill>
              <a:srgbClr val="1A4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051560"/>
            <a:ext cx="50292" cy="242316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170431"/>
            <a:ext cx="5193793" cy="11079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dirty="0">
                <a:solidFill>
                  <a:srgbClr val="57E7DC"/>
                </a:solidFill>
                <a:latin typeface="Consolas"/>
              </a:rPr>
              <a:t>SELECT </a:t>
            </a:r>
            <a:r>
              <a:rPr dirty="0" err="1">
                <a:solidFill>
                  <a:srgbClr val="57E7DC"/>
                </a:solidFill>
                <a:latin typeface="Consolas"/>
              </a:rPr>
              <a:t>AccountID</a:t>
            </a:r>
            <a:r>
              <a:rPr dirty="0">
                <a:solidFill>
                  <a:srgbClr val="57E7DC"/>
                </a:solidFill>
                <a:latin typeface="Consolas"/>
              </a:rPr>
              <a:t>, </a:t>
            </a:r>
            <a:r>
              <a:rPr dirty="0" err="1">
                <a:solidFill>
                  <a:srgbClr val="57E7DC"/>
                </a:solidFill>
                <a:latin typeface="Consolas"/>
              </a:rPr>
              <a:t>CustomerID</a:t>
            </a:r>
            <a:r>
              <a:rPr dirty="0">
                <a:solidFill>
                  <a:srgbClr val="57E7DC"/>
                </a:solidFill>
                <a:latin typeface="Consolas"/>
              </a:rPr>
              <a:t>, Balance,
       RANK() OVER (ORDER BY Balance DESC) AS </a:t>
            </a:r>
            <a:r>
              <a:rPr dirty="0" err="1">
                <a:solidFill>
                  <a:srgbClr val="57E7DC"/>
                </a:solidFill>
                <a:latin typeface="Consolas"/>
              </a:rPr>
              <a:t>BalanceRank</a:t>
            </a:r>
            <a:r>
              <a:rPr dirty="0">
                <a:solidFill>
                  <a:srgbClr val="57E7DC"/>
                </a:solidFill>
                <a:latin typeface="Consolas"/>
              </a:rPr>
              <a:t>
FROM </a:t>
            </a:r>
            <a:r>
              <a:rPr dirty="0" err="1">
                <a:solidFill>
                  <a:srgbClr val="57E7DC"/>
                </a:solidFill>
                <a:latin typeface="Consolas"/>
              </a:rPr>
              <a:t>dbo.Accounts</a:t>
            </a:r>
            <a:r>
              <a:rPr dirty="0">
                <a:solidFill>
                  <a:srgbClr val="57E7DC"/>
                </a:solidFill>
                <a:latin typeface="Consolas"/>
              </a:rPr>
              <a:t>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685032"/>
            <a:ext cx="5303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OUTPUT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1051560"/>
          <a:ext cx="52120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AccountID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Balance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BalanceRank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A1001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125000.00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A1003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98000.00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A1002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76500.00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A1004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42500.00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4160520"/>
            <a:ext cx="10863072" cy="132588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462272"/>
            <a:ext cx="914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476349"/>
            <a:ext cx="9326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F2F8F9"/>
                </a:solidFill>
                <a:latin typeface="Aptos"/>
              </a:rPr>
              <a:t>Ranks accounts using a T-SQL window function.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1E4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471916"/>
            <a:ext cx="102412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F2F8F9"/>
                </a:solidFill>
                <a:latin typeface="Aptos"/>
              </a:rPr>
              <a:t>Q16 • Customer loan totals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"/>
            <a:ext cx="2743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03 • SQL QUERY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01968"/>
            <a:ext cx="502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b="0">
                <a:solidFill>
                  <a:srgbClr val="9DB4BC"/>
                </a:solidFill>
                <a:latin typeface="Aptos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051560"/>
            <a:ext cx="5440680" cy="2423160"/>
          </a:xfrm>
          <a:prstGeom prst="roundRect">
            <a:avLst/>
          </a:prstGeom>
          <a:solidFill>
            <a:srgbClr val="040F19"/>
          </a:solidFill>
          <a:ln w="12700">
            <a:solidFill>
              <a:srgbClr val="1A4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051560"/>
            <a:ext cx="50292" cy="242316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170431"/>
            <a:ext cx="5436109" cy="193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dirty="0">
                <a:solidFill>
                  <a:srgbClr val="57E7DC"/>
                </a:solidFill>
                <a:latin typeface="Consolas"/>
              </a:rPr>
              <a:t>WITH </a:t>
            </a:r>
            <a:r>
              <a:rPr sz="1400" dirty="0" err="1">
                <a:solidFill>
                  <a:srgbClr val="57E7DC"/>
                </a:solidFill>
                <a:latin typeface="Consolas"/>
              </a:rPr>
              <a:t>LoanTotals</a:t>
            </a:r>
            <a:r>
              <a:rPr sz="1400" dirty="0">
                <a:solidFill>
                  <a:srgbClr val="57E7DC"/>
                </a:solidFill>
                <a:latin typeface="Consolas"/>
              </a:rPr>
              <a:t> AS (
    SELECT </a:t>
            </a:r>
            <a:r>
              <a:rPr sz="1400" dirty="0" err="1">
                <a:solidFill>
                  <a:srgbClr val="57E7DC"/>
                </a:solidFill>
                <a:latin typeface="Consolas"/>
              </a:rPr>
              <a:t>CustomerID</a:t>
            </a:r>
            <a:r>
              <a:rPr sz="1400" dirty="0">
                <a:solidFill>
                  <a:srgbClr val="57E7DC"/>
                </a:solidFill>
                <a:latin typeface="Consolas"/>
              </a:rPr>
              <a:t>, SUM(</a:t>
            </a:r>
            <a:r>
              <a:rPr sz="1400" dirty="0" err="1">
                <a:solidFill>
                  <a:srgbClr val="57E7DC"/>
                </a:solidFill>
                <a:latin typeface="Consolas"/>
              </a:rPr>
              <a:t>LoanAmount</a:t>
            </a:r>
            <a:r>
              <a:rPr sz="1400" dirty="0">
                <a:solidFill>
                  <a:srgbClr val="57E7DC"/>
                </a:solidFill>
                <a:latin typeface="Consolas"/>
              </a:rPr>
              <a:t>) AS </a:t>
            </a:r>
            <a:r>
              <a:rPr sz="1400" dirty="0" err="1">
                <a:solidFill>
                  <a:srgbClr val="57E7DC"/>
                </a:solidFill>
                <a:latin typeface="Consolas"/>
              </a:rPr>
              <a:t>TotalLoan</a:t>
            </a:r>
            <a:r>
              <a:rPr sz="1400" dirty="0">
                <a:solidFill>
                  <a:srgbClr val="57E7DC"/>
                </a:solidFill>
                <a:latin typeface="Consolas"/>
              </a:rPr>
              <a:t>
    FROM </a:t>
            </a:r>
            <a:r>
              <a:rPr sz="1400" dirty="0" err="1">
                <a:solidFill>
                  <a:srgbClr val="57E7DC"/>
                </a:solidFill>
                <a:latin typeface="Consolas"/>
              </a:rPr>
              <a:t>dbo.Loans</a:t>
            </a:r>
            <a:r>
              <a:rPr sz="1400" dirty="0">
                <a:solidFill>
                  <a:srgbClr val="57E7DC"/>
                </a:solidFill>
                <a:latin typeface="Consolas"/>
              </a:rPr>
              <a:t>
    GROUP BY </a:t>
            </a:r>
            <a:r>
              <a:rPr sz="1400" dirty="0" err="1">
                <a:solidFill>
                  <a:srgbClr val="57E7DC"/>
                </a:solidFill>
                <a:latin typeface="Consolas"/>
              </a:rPr>
              <a:t>CustomerID</a:t>
            </a:r>
            <a:r>
              <a:rPr sz="1400" dirty="0">
                <a:solidFill>
                  <a:srgbClr val="57E7DC"/>
                </a:solidFill>
                <a:latin typeface="Consolas"/>
              </a:rPr>
              <a:t>
)
SELECT </a:t>
            </a:r>
            <a:r>
              <a:rPr sz="1400" dirty="0" err="1">
                <a:solidFill>
                  <a:srgbClr val="57E7DC"/>
                </a:solidFill>
                <a:latin typeface="Consolas"/>
              </a:rPr>
              <a:t>c.CustomerID</a:t>
            </a:r>
            <a:r>
              <a:rPr sz="1400" dirty="0">
                <a:solidFill>
                  <a:srgbClr val="57E7DC"/>
                </a:solidFill>
                <a:latin typeface="Consolas"/>
              </a:rPr>
              <a:t>, </a:t>
            </a:r>
            <a:r>
              <a:rPr sz="1400" dirty="0" err="1">
                <a:solidFill>
                  <a:srgbClr val="57E7DC"/>
                </a:solidFill>
                <a:latin typeface="Consolas"/>
              </a:rPr>
              <a:t>c.FirstName</a:t>
            </a:r>
            <a:r>
              <a:rPr sz="1400" dirty="0">
                <a:solidFill>
                  <a:srgbClr val="57E7DC"/>
                </a:solidFill>
                <a:latin typeface="Consolas"/>
              </a:rPr>
              <a:t>, </a:t>
            </a:r>
            <a:r>
              <a:rPr sz="1400" dirty="0" err="1">
                <a:solidFill>
                  <a:srgbClr val="57E7DC"/>
                </a:solidFill>
                <a:latin typeface="Consolas"/>
              </a:rPr>
              <a:t>TotalLoan</a:t>
            </a:r>
            <a:r>
              <a:rPr sz="1400" dirty="0">
                <a:solidFill>
                  <a:srgbClr val="57E7DC"/>
                </a:solidFill>
                <a:latin typeface="Consolas"/>
              </a:rPr>
              <a:t>
FROM </a:t>
            </a:r>
            <a:r>
              <a:rPr sz="1400" dirty="0" err="1">
                <a:solidFill>
                  <a:srgbClr val="57E7DC"/>
                </a:solidFill>
                <a:latin typeface="Consolas"/>
              </a:rPr>
              <a:t>dbo.Customers</a:t>
            </a:r>
            <a:r>
              <a:rPr sz="1400" dirty="0">
                <a:solidFill>
                  <a:srgbClr val="57E7DC"/>
                </a:solidFill>
                <a:latin typeface="Consolas"/>
              </a:rPr>
              <a:t> c
JOIN </a:t>
            </a:r>
            <a:r>
              <a:rPr sz="1400" dirty="0" err="1">
                <a:solidFill>
                  <a:srgbClr val="57E7DC"/>
                </a:solidFill>
                <a:latin typeface="Consolas"/>
              </a:rPr>
              <a:t>LoanTotals</a:t>
            </a:r>
            <a:r>
              <a:rPr sz="1400" dirty="0">
                <a:solidFill>
                  <a:srgbClr val="57E7DC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57E7DC"/>
                </a:solidFill>
                <a:latin typeface="Consolas"/>
              </a:rPr>
              <a:t>lt</a:t>
            </a:r>
            <a:r>
              <a:rPr sz="1400" dirty="0">
                <a:solidFill>
                  <a:srgbClr val="57E7DC"/>
                </a:solidFill>
                <a:latin typeface="Consolas"/>
              </a:rPr>
              <a:t> ON </a:t>
            </a:r>
            <a:r>
              <a:rPr sz="1400" dirty="0" err="1">
                <a:solidFill>
                  <a:srgbClr val="57E7DC"/>
                </a:solidFill>
                <a:latin typeface="Consolas"/>
              </a:rPr>
              <a:t>c.CustomerID</a:t>
            </a:r>
            <a:r>
              <a:rPr sz="1400" dirty="0">
                <a:solidFill>
                  <a:srgbClr val="57E7DC"/>
                </a:solidFill>
                <a:latin typeface="Consolas"/>
              </a:rPr>
              <a:t> = </a:t>
            </a:r>
            <a:r>
              <a:rPr sz="1400" dirty="0" err="1">
                <a:solidFill>
                  <a:srgbClr val="57E7DC"/>
                </a:solidFill>
                <a:latin typeface="Consolas"/>
              </a:rPr>
              <a:t>lt.CustomerID</a:t>
            </a:r>
            <a:r>
              <a:rPr sz="1400" dirty="0">
                <a:solidFill>
                  <a:srgbClr val="57E7DC"/>
                </a:solidFill>
                <a:latin typeface="Consolas"/>
              </a:rPr>
              <a:t>
ORDER BY </a:t>
            </a:r>
            <a:r>
              <a:rPr sz="1400" dirty="0" err="1">
                <a:solidFill>
                  <a:srgbClr val="57E7DC"/>
                </a:solidFill>
                <a:latin typeface="Consolas"/>
              </a:rPr>
              <a:t>TotalLoan</a:t>
            </a:r>
            <a:r>
              <a:rPr sz="1400" dirty="0">
                <a:solidFill>
                  <a:srgbClr val="57E7DC"/>
                </a:solidFill>
                <a:latin typeface="Consolas"/>
              </a:rPr>
              <a:t> DESC;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685032"/>
            <a:ext cx="5303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OUTPUT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1051560"/>
          <a:ext cx="52120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009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CustomerID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TotalLoan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Priya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450000.00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Aarav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300000.00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Rohan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180000.00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4160520"/>
            <a:ext cx="10863072" cy="132588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462272"/>
            <a:ext cx="914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484218"/>
            <a:ext cx="9326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F2F8F9"/>
                </a:solidFill>
                <a:latin typeface="Aptos"/>
              </a:rPr>
              <a:t>Uses a CTE to calculate customer-level loan totals.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1E4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455413"/>
            <a:ext cx="102412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F2F8F9"/>
                </a:solidFill>
                <a:latin typeface="Aptos"/>
              </a:rPr>
              <a:t>Q17 • Transaction running total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"/>
            <a:ext cx="2743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00D2BE"/>
                </a:solidFill>
                <a:latin typeface="Aptos"/>
              </a:rPr>
              <a:t>03 • SQL QUERY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01968"/>
            <a:ext cx="502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b="0">
                <a:solidFill>
                  <a:srgbClr val="9DB4BC"/>
                </a:solidFill>
                <a:latin typeface="Aptos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051560"/>
            <a:ext cx="5440680" cy="2423160"/>
          </a:xfrm>
          <a:prstGeom prst="roundRect">
            <a:avLst/>
          </a:prstGeom>
          <a:solidFill>
            <a:srgbClr val="040F19"/>
          </a:solidFill>
          <a:ln w="12700">
            <a:solidFill>
              <a:srgbClr val="1A4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051560"/>
            <a:ext cx="50292" cy="242316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170431"/>
            <a:ext cx="4840422" cy="22159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dirty="0">
                <a:solidFill>
                  <a:srgbClr val="57E7DC"/>
                </a:solidFill>
                <a:latin typeface="Consolas"/>
              </a:rPr>
              <a:t>SELECT </a:t>
            </a:r>
            <a:r>
              <a:rPr dirty="0" err="1">
                <a:solidFill>
                  <a:srgbClr val="57E7DC"/>
                </a:solidFill>
                <a:latin typeface="Consolas"/>
              </a:rPr>
              <a:t>TransactionID</a:t>
            </a:r>
            <a:r>
              <a:rPr dirty="0">
                <a:solidFill>
                  <a:srgbClr val="57E7DC"/>
                </a:solidFill>
                <a:latin typeface="Consolas"/>
              </a:rPr>
              <a:t>, </a:t>
            </a:r>
            <a:r>
              <a:rPr dirty="0" err="1">
                <a:solidFill>
                  <a:srgbClr val="57E7DC"/>
                </a:solidFill>
                <a:latin typeface="Consolas"/>
              </a:rPr>
              <a:t>AccountID</a:t>
            </a:r>
            <a:r>
              <a:rPr dirty="0">
                <a:solidFill>
                  <a:srgbClr val="57E7DC"/>
                </a:solidFill>
                <a:latin typeface="Consolas"/>
              </a:rPr>
              <a:t>, Amount,
       SUM(Amount) OVER (
           PARTITION BY </a:t>
            </a:r>
            <a:r>
              <a:rPr dirty="0" err="1">
                <a:solidFill>
                  <a:srgbClr val="57E7DC"/>
                </a:solidFill>
                <a:latin typeface="Consolas"/>
              </a:rPr>
              <a:t>AccountID</a:t>
            </a:r>
            <a:r>
              <a:rPr dirty="0">
                <a:solidFill>
                  <a:srgbClr val="57E7DC"/>
                </a:solidFill>
                <a:latin typeface="Consolas"/>
              </a:rPr>
              <a:t>
           ORDER BY </a:t>
            </a:r>
            <a:r>
              <a:rPr dirty="0" err="1">
                <a:solidFill>
                  <a:srgbClr val="57E7DC"/>
                </a:solidFill>
                <a:latin typeface="Consolas"/>
              </a:rPr>
              <a:t>TransactionDate</a:t>
            </a:r>
            <a:r>
              <a:rPr dirty="0">
                <a:solidFill>
                  <a:srgbClr val="57E7DC"/>
                </a:solidFill>
                <a:latin typeface="Consolas"/>
              </a:rPr>
              <a:t>, </a:t>
            </a:r>
            <a:r>
              <a:rPr dirty="0" err="1">
                <a:solidFill>
                  <a:srgbClr val="57E7DC"/>
                </a:solidFill>
                <a:latin typeface="Consolas"/>
              </a:rPr>
              <a:t>TransactionID</a:t>
            </a:r>
            <a:r>
              <a:rPr dirty="0">
                <a:solidFill>
                  <a:srgbClr val="57E7DC"/>
                </a:solidFill>
                <a:latin typeface="Consolas"/>
              </a:rPr>
              <a:t>
       ) AS </a:t>
            </a:r>
            <a:r>
              <a:rPr dirty="0" err="1">
                <a:solidFill>
                  <a:srgbClr val="57E7DC"/>
                </a:solidFill>
                <a:latin typeface="Consolas"/>
              </a:rPr>
              <a:t>RunningTotal</a:t>
            </a:r>
            <a:r>
              <a:rPr dirty="0">
                <a:solidFill>
                  <a:srgbClr val="57E7DC"/>
                </a:solidFill>
                <a:latin typeface="Consolas"/>
              </a:rPr>
              <a:t>
FROM </a:t>
            </a:r>
            <a:r>
              <a:rPr dirty="0" err="1">
                <a:solidFill>
                  <a:srgbClr val="57E7DC"/>
                </a:solidFill>
                <a:latin typeface="Consolas"/>
              </a:rPr>
              <a:t>dbo.Transactions</a:t>
            </a:r>
            <a:r>
              <a:rPr dirty="0">
                <a:solidFill>
                  <a:srgbClr val="57E7DC"/>
                </a:solidFill>
                <a:latin typeface="Consolas"/>
              </a:rPr>
              <a:t>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685032"/>
            <a:ext cx="5303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OUTPUT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1051560"/>
          <a:ext cx="52120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TransactionID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AccountID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71423"/>
                          </a:solidFill>
                          <a:latin typeface="Aptos"/>
                        </a:defRPr>
                      </a:pPr>
                      <a:r>
                        <a:t>RunningTotal</a:t>
                      </a:r>
                    </a:p>
                  </a:txBody>
                  <a:tcPr>
                    <a:solidFill>
                      <a:srgbClr val="1BA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T497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A1001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12000.00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12000.00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T500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A1001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5000.00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17000.00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T498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A1004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2500.00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2500.00</a:t>
                      </a:r>
                    </a:p>
                  </a:txBody>
                  <a:tcPr>
                    <a:solidFill>
                      <a:srgbClr val="0E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T501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A1002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15000.00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F2F8F9"/>
                          </a:solidFill>
                          <a:latin typeface="Aptos"/>
                        </a:defRPr>
                      </a:pPr>
                      <a:r>
                        <a:t>15000.00</a:t>
                      </a:r>
                    </a:p>
                  </a:txBody>
                  <a:tcPr>
                    <a:solidFill>
                      <a:srgbClr val="1232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4160520"/>
            <a:ext cx="10863072" cy="132588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462272"/>
            <a:ext cx="914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475988"/>
            <a:ext cx="9326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F2F8F9"/>
                </a:solidFill>
                <a:latin typeface="Aptos"/>
              </a:rPr>
              <a:t>Uses a windowed SUM to create an account-level running total.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1E4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5395" y="577072"/>
            <a:ext cx="102412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F2F8F9"/>
                </a:solidFill>
                <a:latin typeface="Aptos"/>
              </a:rPr>
              <a:t>SQL Techniques Demonstrated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"/>
            <a:ext cx="2743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04 •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01968"/>
            <a:ext cx="502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b="0">
                <a:solidFill>
                  <a:srgbClr val="9DB4BC"/>
                </a:solidFill>
                <a:latin typeface="Aptos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88720"/>
            <a:ext cx="3383280" cy="150876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29260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Filtering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01952"/>
            <a:ext cx="29260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>
                <a:solidFill>
                  <a:srgbClr val="F2F8F9"/>
                </a:solidFill>
                <a:latin typeface="Aptos"/>
              </a:rPr>
              <a:t>WHERE / TOP / thresholds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188720"/>
            <a:ext cx="3383280" cy="150876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417320"/>
            <a:ext cx="29260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Aggregation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01952"/>
            <a:ext cx="292608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>
                <a:solidFill>
                  <a:srgbClr val="F2F8F9"/>
                </a:solidFill>
                <a:latin typeface="Aptos"/>
              </a:rPr>
              <a:t>SUM / AVG / COUNT / GROUP BY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188720"/>
            <a:ext cx="3383280" cy="150876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19" y="1417320"/>
            <a:ext cx="29260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Joins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1901952"/>
            <a:ext cx="292608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>
                <a:solidFill>
                  <a:srgbClr val="F2F8F9"/>
                </a:solidFill>
                <a:latin typeface="Aptos"/>
              </a:rPr>
              <a:t>INNER JOIN across related entities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154680"/>
            <a:ext cx="3383280" cy="150876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383280"/>
            <a:ext cx="29260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Sorting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67912"/>
            <a:ext cx="292608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>
                <a:solidFill>
                  <a:srgbClr val="F2F8F9"/>
                </a:solidFill>
                <a:latin typeface="Aptos"/>
              </a:rPr>
              <a:t>ORDER BY for ranked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154680"/>
            <a:ext cx="3383280" cy="150876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3383280"/>
            <a:ext cx="29260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Window Functions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867912"/>
            <a:ext cx="29260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>
                <a:solidFill>
                  <a:srgbClr val="F2F8F9"/>
                </a:solidFill>
                <a:latin typeface="Aptos"/>
              </a:rPr>
              <a:t>RANK / running SUM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154680"/>
            <a:ext cx="3383280" cy="150876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5319" y="3383280"/>
            <a:ext cx="29260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CTE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3867912"/>
            <a:ext cx="292608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>
                <a:solidFill>
                  <a:srgbClr val="F2F8F9"/>
                </a:solidFill>
                <a:latin typeface="Aptos"/>
              </a:rPr>
              <a:t>Reusable intermediate result set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1E4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5216" y="1154930"/>
            <a:ext cx="102412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F2F8F9"/>
                </a:solidFill>
                <a:latin typeface="Aptos"/>
              </a:rPr>
              <a:t>Data Integrity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"/>
            <a:ext cx="2743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05 •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01968"/>
            <a:ext cx="502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b="0">
                <a:solidFill>
                  <a:srgbClr val="9DB4BC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868948"/>
            <a:ext cx="5212080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2F8F9"/>
                </a:solidFill>
                <a:latin typeface="Aptos"/>
              </a:defRPr>
            </a:pPr>
            <a:r>
              <a:rPr dirty="0"/>
              <a:t>• Use least-privilege database access.</a:t>
            </a:r>
          </a:p>
          <a:p>
            <a:pPr>
              <a:spcAft>
                <a:spcPts val="800"/>
              </a:spcAft>
              <a:defRPr sz="1500">
                <a:solidFill>
                  <a:srgbClr val="F2F8F9"/>
                </a:solidFill>
                <a:latin typeface="Aptos"/>
              </a:defRPr>
            </a:pPr>
            <a:r>
              <a:rPr dirty="0"/>
              <a:t>• Validate inputs before insert/update operations.</a:t>
            </a:r>
          </a:p>
          <a:p>
            <a:pPr>
              <a:spcAft>
                <a:spcPts val="800"/>
              </a:spcAft>
              <a:defRPr sz="1500">
                <a:solidFill>
                  <a:srgbClr val="F2F8F9"/>
                </a:solidFill>
                <a:latin typeface="Aptos"/>
              </a:defRPr>
            </a:pPr>
            <a:r>
              <a:rPr dirty="0"/>
              <a:t>• Use constraints to block invalid relationships.</a:t>
            </a:r>
          </a:p>
          <a:p>
            <a:pPr>
              <a:spcAft>
                <a:spcPts val="800"/>
              </a:spcAft>
              <a:defRPr sz="1500">
                <a:solidFill>
                  <a:srgbClr val="F2F8F9"/>
                </a:solidFill>
                <a:latin typeface="Aptos"/>
              </a:defRPr>
            </a:pPr>
            <a:r>
              <a:rPr dirty="0"/>
              <a:t>• Audit transaction activity and sensitive changes.</a:t>
            </a:r>
          </a:p>
          <a:p>
            <a:pPr>
              <a:spcAft>
                <a:spcPts val="800"/>
              </a:spcAft>
              <a:defRPr sz="1500">
                <a:solidFill>
                  <a:srgbClr val="F2F8F9"/>
                </a:solidFill>
                <a:latin typeface="Aptos"/>
              </a:defRPr>
            </a:pPr>
            <a:r>
              <a:rPr dirty="0"/>
              <a:t>• Back up the database and test restoration procedures.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4572000" cy="420624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508760"/>
            <a:ext cx="3931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Trust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057400"/>
            <a:ext cx="38404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0">
                <a:solidFill>
                  <a:srgbClr val="F2F8F9"/>
                </a:solidFill>
                <a:latin typeface="Aptos"/>
              </a:rPr>
              <a:t>IDENTITY
↓
ACCESS CONTROL
↓
VALID DATA
↓
AUDITABLE TRANSACTIONS
↓
RELIABLE REPORTING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1E4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5216" y="591895"/>
            <a:ext cx="102412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F2F8F9"/>
                </a:solidFill>
                <a:latin typeface="Aptos"/>
              </a:rPr>
              <a:t>Key 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"/>
            <a:ext cx="2743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06 •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01968"/>
            <a:ext cx="502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b="0">
                <a:solidFill>
                  <a:srgbClr val="9DB4BC"/>
                </a:solidFill>
                <a:latin typeface="Aptos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2148840" cy="132588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399032"/>
            <a:ext cx="181965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892808"/>
            <a:ext cx="1819656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9DB4BC"/>
                </a:solidFill>
                <a:latin typeface="Aptos"/>
              </a:rPr>
              <a:t>RELATIONAL 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234440"/>
            <a:ext cx="2148840" cy="132588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27832" y="1399032"/>
            <a:ext cx="181965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57E7DC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7832" y="1892808"/>
            <a:ext cx="181965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9DB4BC"/>
                </a:solidFill>
                <a:latin typeface="Aptos"/>
              </a:rPr>
              <a:t>SQL QUERYING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1234440"/>
            <a:ext cx="2148840" cy="132588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05272" y="1399032"/>
            <a:ext cx="181965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43D291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5272" y="1892808"/>
            <a:ext cx="1819656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9DB4BC"/>
                </a:solidFill>
                <a:latin typeface="Aptos"/>
              </a:rPr>
              <a:t>DATA INTEGRITY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234440"/>
            <a:ext cx="2148840" cy="132588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82712" y="1399032"/>
            <a:ext cx="181965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F6BE4A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712" y="1892808"/>
            <a:ext cx="1819656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9DB4BC"/>
                </a:solidFill>
                <a:latin typeface="Aptos"/>
              </a:rPr>
              <a:t>ANALYTICAL 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063240"/>
            <a:ext cx="978408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F2F8F9"/>
                </a:solidFill>
                <a:latin typeface="Aptos"/>
              </a:defRPr>
            </a:pPr>
            <a:r>
              <a:t>• A banking DBMS connects operational entities through clear PK/FK relationships.</a:t>
            </a:r>
          </a:p>
          <a:p>
            <a:pPr>
              <a:spcAft>
                <a:spcPts val="800"/>
              </a:spcAft>
              <a:defRPr sz="1450">
                <a:solidFill>
                  <a:srgbClr val="F2F8F9"/>
                </a:solidFill>
                <a:latin typeface="Aptos"/>
              </a:defRPr>
            </a:pPr>
            <a:r>
              <a:t>• T-SQL supports both day-to-day retrieval and advanced analysis.</a:t>
            </a:r>
          </a:p>
          <a:p>
            <a:pPr>
              <a:spcAft>
                <a:spcPts val="800"/>
              </a:spcAft>
              <a:defRPr sz="1450">
                <a:solidFill>
                  <a:srgbClr val="F2F8F9"/>
                </a:solidFill>
                <a:latin typeface="Aptos"/>
              </a:defRPr>
            </a:pPr>
            <a:r>
              <a:t>• Window functions and CTEs make complex reporting easier to express.</a:t>
            </a:r>
          </a:p>
          <a:p>
            <a:pPr>
              <a:spcAft>
                <a:spcPts val="800"/>
              </a:spcAft>
              <a:defRPr sz="1450">
                <a:solidFill>
                  <a:srgbClr val="F2F8F9"/>
                </a:solidFill>
                <a:latin typeface="Aptos"/>
              </a:defRPr>
            </a:pPr>
            <a:r>
              <a:t>• Good database design is the foundation of trustworthy banking analytics.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55680" cy="10972"/>
          </a:xfrm>
          <a:prstGeom prst="rect">
            <a:avLst/>
          </a:prstGeom>
          <a:solidFill>
            <a:srgbClr val="1E4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601968"/>
            <a:ext cx="502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b="0">
                <a:solidFill>
                  <a:srgbClr val="9DB4BC"/>
                </a:solidFill>
                <a:latin typeface="Aptos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91440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F2F8F9"/>
                </a:solidFill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74519"/>
            <a:ext cx="7315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D2BE"/>
                </a:solidFill>
                <a:latin typeface="Aptos"/>
              </a:rPr>
              <a:t>CM Bank DBMS • Teal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68880"/>
            <a:ext cx="65836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>
                <a:solidFill>
                  <a:srgbClr val="9DB4BC"/>
                </a:solidFill>
                <a:latin typeface="Aptos"/>
              </a:rPr>
              <a:t>Database design, T-SQL queries and banking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794760"/>
            <a:ext cx="5120640" cy="114300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1B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4096512"/>
            <a:ext cx="45720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F2F8F9"/>
                </a:solidFill>
                <a:latin typeface="Aptos"/>
              </a:rPr>
              <a:t>Questions &amp; 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5212080"/>
            <a:ext cx="17373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b="1">
                <a:solidFill>
                  <a:srgbClr val="57E7DC"/>
                </a:solidFill>
                <a:latin typeface="Aptos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1671</Words>
  <Application>Microsoft Office PowerPoint</Application>
  <PresentationFormat>Widescreen</PresentationFormat>
  <Paragraphs>465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 Bank DBMS — Teal Trust</dc:title>
  <dc:subject>Database Management System presentation with 17 T-SQL query demonstrations</dc:subject>
  <dc:creator>CM Bank DBMS Project</dc:creator>
  <cp:keywords>DBMS, SQL Server, T-SQL, Banking, CM Bank, Teal Trust</cp:keywords>
  <dc:description>generated using python-pptx</dc:description>
  <cp:lastModifiedBy>Atharv Patil</cp:lastModifiedBy>
  <cp:revision>2</cp:revision>
  <dcterms:created xsi:type="dcterms:W3CDTF">2013-01-27T09:14:16Z</dcterms:created>
  <dcterms:modified xsi:type="dcterms:W3CDTF">2026-08-12T14:49:30Z</dcterms:modified>
  <cp:category/>
</cp:coreProperties>
</file>